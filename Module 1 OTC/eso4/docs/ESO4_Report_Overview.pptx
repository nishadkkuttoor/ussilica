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ESO4 rebuilds the legacy Hubble TX002 report on our Fabric platform. Same numbers, modern stack, refreshes continuously instead of on demand.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non-technical. The point: tax must be right, two systems must agree, and the business stream split (Oil &amp; Gas vs Industrial &amp; Specialty Products) matters for reporting.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Non-technical takeaway: five stages, each one cleaner than the last. Technical: Bronze via Debezium/Event Hub; Silver decoded; Gold = our 3 notebooks; Direct Lake to PBI.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address dimensions are reused conformed dims (rpt.dim_address_*). dim_business_unit is shared with ESO5. Only dim_sic and dim_state are ESO4-specific.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Grain = 18 columns; the four amounts are summed across F03B11 pay items. If asked: 24 business columns, 26 stored including two keys.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Half of these we didn't build — that's the point of a conformed star schema. dim_business_unit is shared with ESO5, so changes to it need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F4211 INNER JOIN F03B11 on SDDOC=RPODOC, SDDCT=RPODCT, SDKCO=RPOKCO, SDLNID=RPLNID. LEFT joins to F0006 (plant) and F0101⋈F0116 (address). Every join from spec §4, no report filters.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Gold Layer Design Rule. Hubble's WHERE clause on GL date (one month) is NOT in Gold — gl_date is a native column, sliced on the page. Only universal exclusions (soft deletes) are applied.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ABSIC (F0101) × MCRP20 (F0006). Five CASE branches, mirrored in the same order as Hubble, deliberately not simplified so it's line-by-line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Tax reports match failures against Avalara, this formula is the first place to look. Flagged in the design doc and the gate review.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Change Data Feed → foreachBatch → delete-scope-then-append, every 30s. Idempotent and self-healing; the full reload and the incremental path call the same transform.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pages, 17 visuals. All field references validated against the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be straight about this. The build is done and reviewed, but nothing has been executed on Fabric, so no number has been validated. Don't let anyone leave thinking the figures are signed off.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Finding 1 from the gate review. It's a genuine trade-off, not a defect: we optimised for provable Hubble reconciliation at the cost of reusability. Needs a data-owner call.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docs if anyone wants depth: design doc, the gate review (findings + status), and the line-by-line notebook walkthrough.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48840"/>
            <a:ext cx="10058400" cy="914400"/>
          </a:xfrm>
          <a:prstGeom prst="rect">
            <a:avLst/>
          </a:prstGeom>
          <a:noFill/>
        </p:spPr>
        <p:txBody>
          <a:bodyPr wrap="square" anchor="t">
            <a:spAutoFit/>
          </a:bodyPr>
          <a:lstStyle/>
          <a:p>
            <a:pPr algn="l">
              <a:spcBef>
                <a:spcPts val="0"/>
              </a:spcBef>
              <a:spcAft>
                <a:spcPts val="0"/>
              </a:spcAft>
              <a:defRPr sz="4400" b="1" i="0">
                <a:solidFill>
                  <a:srgbClr val="FFFFFF"/>
                </a:solidFill>
                <a:latin typeface="Calibri"/>
              </a:defRPr>
            </a:pPr>
            <a:r>
              <a:t>ESO4 — Sales Tax Reconciliation</a:t>
            </a:r>
          </a:p>
        </p:txBody>
      </p:sp>
      <p:sp>
        <p:nvSpPr>
          <p:cNvPr id="4" name="TextBox 3"/>
          <p:cNvSpPr txBox="1"/>
          <p:nvPr/>
        </p:nvSpPr>
        <p:spPr>
          <a:xfrm>
            <a:off x="1097280" y="3063240"/>
            <a:ext cx="10058400" cy="548640"/>
          </a:xfrm>
          <a:prstGeom prst="rect">
            <a:avLst/>
          </a:prstGeom>
          <a:noFill/>
        </p:spPr>
        <p:txBody>
          <a:bodyPr wrap="square" anchor="t">
            <a:spAutoFit/>
          </a:bodyPr>
          <a:lstStyle/>
          <a:p>
            <a:pPr algn="l">
              <a:spcBef>
                <a:spcPts val="0"/>
              </a:spcBef>
              <a:spcAft>
                <a:spcPts val="0"/>
              </a:spcAft>
              <a:defRPr sz="2000" b="0" i="0">
                <a:solidFill>
                  <a:srgbClr val="AFC4E8"/>
                </a:solidFill>
                <a:latin typeface="Calibri"/>
              </a:defRPr>
            </a:pPr>
            <a:r>
              <a:t>Sales Tax with Business Stream Summary  ·  Avalara reconciliation</a:t>
            </a:r>
          </a:p>
        </p:txBody>
      </p:sp>
      <p:sp>
        <p:nvSpPr>
          <p:cNvPr id="5" name="Rectangle 4"/>
          <p:cNvSpPr/>
          <p:nvPr/>
        </p:nvSpPr>
        <p:spPr>
          <a:xfrm>
            <a:off x="1097280" y="3794760"/>
            <a:ext cx="1463040" cy="54864"/>
          </a:xfrm>
          <a:prstGeom prst="rect">
            <a:avLst/>
          </a:prstGeom>
          <a:solidFill>
            <a:srgbClr val="7A9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4114800"/>
            <a:ext cx="10058400" cy="731520"/>
          </a:xfrm>
          <a:prstGeom prst="rect">
            <a:avLst/>
          </a:prstGeom>
          <a:noFill/>
        </p:spPr>
        <p:txBody>
          <a:bodyPr wrap="square" anchor="t">
            <a:spAutoFit/>
          </a:bodyPr>
          <a:lstStyle/>
          <a:p>
            <a:pPr algn="l">
              <a:spcBef>
                <a:spcPts val="0"/>
              </a:spcBef>
              <a:spcAft>
                <a:spcPts val="0"/>
              </a:spcAft>
              <a:defRPr sz="1500" b="0" i="0">
                <a:solidFill>
                  <a:srgbClr val="9FB4DC"/>
                </a:solidFill>
                <a:latin typeface="Calibri"/>
              </a:defRPr>
            </a:pPr>
            <a:r>
              <a:t>Replaces Hubble TX002  ·  JD Edwards → Microsoft Fabric → Power BI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THE BUSINESS QUESTION</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What this report answers</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28800"/>
            <a:ext cx="3383280" cy="137160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1">
                <a:solidFill>
                  <a:srgbClr val="1F3864"/>
                </a:solidFill>
                <a:latin typeface="Calibri"/>
              </a:defRPr>
            </a:pPr>
            <a:r>
              <a:t>Did we charge the</a:t>
            </a:r>
            <a:br/>
            <a:r>
              <a:t>right sales tax?</a:t>
            </a:r>
          </a:p>
        </p:txBody>
      </p:sp>
      <p:sp>
        <p:nvSpPr>
          <p:cNvPr id="6" name="Rounded Rectangle 5"/>
          <p:cNvSpPr/>
          <p:nvPr/>
        </p:nvSpPr>
        <p:spPr>
          <a:xfrm>
            <a:off x="4389120" y="1828800"/>
            <a:ext cx="3383280" cy="137160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1">
                <a:solidFill>
                  <a:srgbClr val="1F3864"/>
                </a:solidFill>
                <a:latin typeface="Calibri"/>
              </a:defRPr>
            </a:pPr>
            <a:r>
              <a:t>Does JDE agree</a:t>
            </a:r>
            <a:br/>
            <a:r>
              <a:t>with Avalara?</a:t>
            </a:r>
          </a:p>
        </p:txBody>
      </p:sp>
      <p:sp>
        <p:nvSpPr>
          <p:cNvPr id="7" name="Rounded Rectangle 6"/>
          <p:cNvSpPr/>
          <p:nvPr/>
        </p:nvSpPr>
        <p:spPr>
          <a:xfrm>
            <a:off x="8138160" y="1828800"/>
            <a:ext cx="3383280" cy="137160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1">
                <a:solidFill>
                  <a:srgbClr val="1F3864"/>
                </a:solidFill>
                <a:latin typeface="Calibri"/>
              </a:defRPr>
            </a:pPr>
            <a:r>
              <a:t>Which business are</a:t>
            </a:r>
            <a:br/>
            <a:r>
              <a:t>we taxing — O&amp;G</a:t>
            </a:r>
            <a:br/>
            <a:r>
              <a:t>or ISP?</a:t>
            </a:r>
          </a:p>
        </p:txBody>
      </p:sp>
      <p:sp>
        <p:nvSpPr>
          <p:cNvPr id="8" name="TextBox 7"/>
          <p:cNvSpPr txBox="1"/>
          <p:nvPr/>
        </p:nvSpPr>
        <p:spPr>
          <a:xfrm>
            <a:off x="640080" y="3657600"/>
            <a:ext cx="10881360" cy="2377440"/>
          </a:xfrm>
          <a:prstGeom prst="rect">
            <a:avLst/>
          </a:prstGeom>
          <a:noFill/>
        </p:spPr>
        <p:txBody>
          <a:bodyPr wrap="square" anchor="t">
            <a:spAutoFit/>
          </a:bodyPr>
          <a:lstStyle/>
          <a:p>
            <a:pPr algn="l">
              <a:spcBef>
                <a:spcPts val="0"/>
              </a:spcBef>
              <a:spcAft>
                <a:spcPts val="1000"/>
              </a:spcAft>
              <a:defRPr sz="1700" b="0" i="0">
                <a:solidFill>
                  <a:srgbClr val="1F3864"/>
                </a:solidFill>
                <a:latin typeface="Calibri"/>
              </a:defRPr>
            </a:pPr>
            <a:r>
              <a:t>Avalara is the third-party engine that calculates sales tax. JDE is where we invoice.</a:t>
            </a:r>
          </a:p>
          <a:p>
            <a:pPr>
              <a:spcBef>
                <a:spcPts val="0"/>
              </a:spcBef>
              <a:spcAft>
                <a:spcPts val="1400"/>
              </a:spcAft>
              <a:defRPr sz="1700" b="0" i="0">
                <a:solidFill>
                  <a:srgbClr val="1F3864"/>
                </a:solidFill>
                <a:latin typeface="Calibri"/>
              </a:defRPr>
            </a:pPr>
            <a:r>
              <a:t>Every invoice line has a tax amount in both systems. They should match — and when they don't, the Tax department needs to know which invoice, which jurisdiction, and how much.</a:t>
            </a:r>
          </a:p>
          <a:p>
            <a:pPr>
              <a:spcBef>
                <a:spcPts val="0"/>
              </a:spcBef>
              <a:spcAft>
                <a:spcPts val="600"/>
              </a:spcAft>
              <a:defRPr sz="1700" b="1" i="0">
                <a:solidFill>
                  <a:srgbClr val="2E5496"/>
                </a:solidFill>
                <a:latin typeface="Calibri"/>
              </a:defRPr>
            </a:pPr>
            <a:r>
              <a:t>This report puts both sides in one place, so a mismatch is visible instead of hidden.</a:t>
            </a:r>
          </a:p>
        </p:txBody>
      </p:sp>
      <p:sp>
        <p:nvSpPr>
          <p:cNvPr id="9" name="TextBox 8"/>
          <p:cNvSpPr txBox="1"/>
          <p:nvPr/>
        </p:nvSpPr>
        <p:spPr>
          <a:xfrm>
            <a:off x="640080" y="5806440"/>
            <a:ext cx="10881360" cy="457200"/>
          </a:xfrm>
          <a:prstGeom prst="rect">
            <a:avLst/>
          </a:prstGeom>
          <a:noFill/>
        </p:spPr>
        <p:txBody>
          <a:bodyPr wrap="square" anchor="t">
            <a:spAutoFit/>
          </a:bodyPr>
          <a:lstStyle/>
          <a:p>
            <a:pPr algn="l">
              <a:spcBef>
                <a:spcPts val="0"/>
              </a:spcBef>
              <a:spcAft>
                <a:spcPts val="600"/>
              </a:spcAft>
              <a:defRPr sz="1300" b="0" i="1">
                <a:solidFill>
                  <a:srgbClr val="595F69"/>
                </a:solidFill>
                <a:latin typeface="Calibri"/>
              </a:defRPr>
            </a:pPr>
            <a:r>
              <a:t>Audience: Tax department  ·  Stakeholder: Lisa Covington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DATA FLOW</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Where the data comes from</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286000"/>
            <a:ext cx="1874519" cy="1234440"/>
          </a:xfrm>
          <a:prstGeom prst="roundRect">
            <a:avLst/>
          </a:prstGeom>
          <a:solidFill>
            <a:srgbClr val="EEEFF1"/>
          </a:solidFill>
          <a:ln w="15875">
            <a:solidFill>
              <a:srgbClr val="595F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F3864"/>
                </a:solidFill>
                <a:latin typeface="Calibri"/>
              </a:defRPr>
            </a:pPr>
            <a:r>
              <a:t>JD Edwards</a:t>
            </a:r>
          </a:p>
          <a:p>
            <a:pPr algn="ctr">
              <a:defRPr sz="1000">
                <a:solidFill>
                  <a:srgbClr val="595F69"/>
                </a:solidFill>
                <a:latin typeface="Calibri"/>
              </a:defRPr>
            </a:pPr>
            <a:r>
              <a:t>the ERP — where</a:t>
            </a:r>
            <a:br/>
            <a:r>
              <a:t>we invoice</a:t>
            </a:r>
          </a:p>
        </p:txBody>
      </p:sp>
      <p:sp>
        <p:nvSpPr>
          <p:cNvPr id="6" name="Rounded Rectangle 5"/>
          <p:cNvSpPr/>
          <p:nvPr/>
        </p:nvSpPr>
        <p:spPr>
          <a:xfrm>
            <a:off x="2880360" y="2286000"/>
            <a:ext cx="1874519" cy="1234440"/>
          </a:xfrm>
          <a:prstGeom prst="roundRect">
            <a:avLst/>
          </a:prstGeom>
          <a:solidFill>
            <a:srgbClr val="EEEFF1"/>
          </a:solidFill>
          <a:ln w="15875">
            <a:solidFill>
              <a:srgbClr val="595F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F3864"/>
                </a:solidFill>
                <a:latin typeface="Calibri"/>
              </a:defRPr>
            </a:pPr>
            <a:r>
              <a:t>Bronze</a:t>
            </a:r>
          </a:p>
          <a:p>
            <a:pPr algn="ctr">
              <a:defRPr sz="1000">
                <a:solidFill>
                  <a:srgbClr val="595F69"/>
                </a:solidFill>
                <a:latin typeface="Calibri"/>
              </a:defRPr>
            </a:pPr>
            <a:r>
              <a:t>raw changes,</a:t>
            </a:r>
            <a:br/>
            <a:r>
              <a:t>as they arrive</a:t>
            </a:r>
          </a:p>
        </p:txBody>
      </p:sp>
      <p:sp>
        <p:nvSpPr>
          <p:cNvPr id="7" name="Rounded Rectangle 6"/>
          <p:cNvSpPr/>
          <p:nvPr/>
        </p:nvSpPr>
        <p:spPr>
          <a:xfrm>
            <a:off x="5120640" y="2286000"/>
            <a:ext cx="1874519" cy="123444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F3864"/>
                </a:solidFill>
                <a:latin typeface="Calibri"/>
              </a:defRPr>
            </a:pPr>
            <a:r>
              <a:t>Silver</a:t>
            </a:r>
          </a:p>
          <a:p>
            <a:pPr algn="ctr">
              <a:defRPr sz="1000">
                <a:solidFill>
                  <a:srgbClr val="595F69"/>
                </a:solidFill>
                <a:latin typeface="Calibri"/>
              </a:defRPr>
            </a:pPr>
            <a:r>
              <a:t>cleaned &amp;</a:t>
            </a:r>
            <a:br/>
            <a:r>
              <a:t>decoded</a:t>
            </a:r>
          </a:p>
        </p:txBody>
      </p:sp>
      <p:sp>
        <p:nvSpPr>
          <p:cNvPr id="8" name="Rounded Rectangle 7"/>
          <p:cNvSpPr/>
          <p:nvPr/>
        </p:nvSpPr>
        <p:spPr>
          <a:xfrm>
            <a:off x="7360920" y="2286000"/>
            <a:ext cx="1874519" cy="1234440"/>
          </a:xfrm>
          <a:prstGeom prst="roundRect">
            <a:avLst/>
          </a:prstGeom>
          <a:solidFill>
            <a:srgbClr val="E2EFDA"/>
          </a:solidFill>
          <a:ln w="15875">
            <a:solidFill>
              <a:srgbClr val="4F8A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F3864"/>
                </a:solidFill>
                <a:latin typeface="Calibri"/>
              </a:defRPr>
            </a:pPr>
            <a:r>
              <a:t>Gold</a:t>
            </a:r>
          </a:p>
          <a:p>
            <a:pPr algn="ctr">
              <a:defRPr sz="1000">
                <a:solidFill>
                  <a:srgbClr val="595F69"/>
                </a:solidFill>
                <a:latin typeface="Calibri"/>
              </a:defRPr>
            </a:pPr>
            <a:r>
              <a:t>business logic,</a:t>
            </a:r>
            <a:br/>
            <a:r>
              <a:t>star schema</a:t>
            </a:r>
          </a:p>
        </p:txBody>
      </p:sp>
      <p:sp>
        <p:nvSpPr>
          <p:cNvPr id="9" name="Rounded Rectangle 8"/>
          <p:cNvSpPr/>
          <p:nvPr/>
        </p:nvSpPr>
        <p:spPr>
          <a:xfrm>
            <a:off x="9601200" y="2286000"/>
            <a:ext cx="1874519" cy="1234440"/>
          </a:xfrm>
          <a:prstGeom prst="roundRect">
            <a:avLst/>
          </a:prstGeom>
          <a:solidFill>
            <a:srgbClr val="FDF0DC"/>
          </a:solidFill>
          <a:ln w="15875">
            <a:solidFill>
              <a:srgbClr val="C17A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F3864"/>
                </a:solidFill>
                <a:latin typeface="Calibri"/>
              </a:defRPr>
            </a:pPr>
            <a:r>
              <a:t>Power BI</a:t>
            </a:r>
          </a:p>
          <a:p>
            <a:pPr algn="ctr">
              <a:defRPr sz="1000">
                <a:solidFill>
                  <a:srgbClr val="595F69"/>
                </a:solidFill>
                <a:latin typeface="Calibri"/>
              </a:defRPr>
            </a:pPr>
            <a:r>
              <a:t>the report</a:t>
            </a:r>
          </a:p>
        </p:txBody>
      </p:sp>
      <p:cxnSp>
        <p:nvCxnSpPr>
          <p:cNvPr id="10" name="Connector 9"/>
          <p:cNvCxnSpPr/>
          <p:nvPr/>
        </p:nvCxnSpPr>
        <p:spPr>
          <a:xfrm>
            <a:off x="2514600" y="2903220"/>
            <a:ext cx="365760" cy="0"/>
          </a:xfrm>
          <a:prstGeom prst="line">
            <a:avLst/>
          </a:prstGeom>
          <a:ln w="22225">
            <a:solidFill>
              <a:srgbClr val="2E54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54879" y="2903220"/>
            <a:ext cx="365761" cy="0"/>
          </a:xfrm>
          <a:prstGeom prst="line">
            <a:avLst/>
          </a:prstGeom>
          <a:ln w="22225">
            <a:solidFill>
              <a:srgbClr val="2E54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995159" y="2903220"/>
            <a:ext cx="365761" cy="0"/>
          </a:xfrm>
          <a:prstGeom prst="line">
            <a:avLst/>
          </a:prstGeom>
          <a:ln w="22225">
            <a:solidFill>
              <a:srgbClr val="2E54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235440" y="2903220"/>
            <a:ext cx="365760" cy="0"/>
          </a:xfrm>
          <a:prstGeom prst="line">
            <a:avLst/>
          </a:prstGeom>
          <a:ln w="22225">
            <a:solidFill>
              <a:srgbClr val="2E54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15200" y="2057400"/>
            <a:ext cx="1965960" cy="1691640"/>
          </a:xfrm>
          <a:prstGeom prst="roundRect">
            <a:avLst/>
          </a:prstGeom>
          <a:noFill/>
          <a:ln w="25400">
            <a:solidFill>
              <a:srgbClr val="4F8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3840480"/>
            <a:ext cx="2468880" cy="365760"/>
          </a:xfrm>
          <a:prstGeom prst="rect">
            <a:avLst/>
          </a:prstGeom>
          <a:noFill/>
        </p:spPr>
        <p:txBody>
          <a:bodyPr wrap="square" anchor="t">
            <a:spAutoFit/>
          </a:bodyPr>
          <a:lstStyle/>
          <a:p>
            <a:pPr algn="ctr">
              <a:spcBef>
                <a:spcPts val="0"/>
              </a:spcBef>
              <a:spcAft>
                <a:spcPts val="600"/>
              </a:spcAft>
              <a:defRPr sz="1200" b="1" i="0">
                <a:solidFill>
                  <a:srgbClr val="4F8A3E"/>
                </a:solidFill>
                <a:latin typeface="Calibri"/>
              </a:defRPr>
            </a:pPr>
            <a:r>
              <a:t>◄ our three notebooks</a:t>
            </a:r>
          </a:p>
        </p:txBody>
      </p:sp>
      <p:sp>
        <p:nvSpPr>
          <p:cNvPr id="16" name="TextBox 15"/>
          <p:cNvSpPr txBox="1"/>
          <p:nvPr/>
        </p:nvSpPr>
        <p:spPr>
          <a:xfrm>
            <a:off x="640080" y="4526280"/>
            <a:ext cx="10881360" cy="1737360"/>
          </a:xfrm>
          <a:prstGeom prst="rect">
            <a:avLst/>
          </a:prstGeom>
          <a:noFill/>
        </p:spPr>
        <p:txBody>
          <a:bodyPr wrap="square" anchor="t">
            <a:spAutoFit/>
          </a:bodyPr>
          <a:lstStyle/>
          <a:p>
            <a:pPr algn="l">
              <a:spcBef>
                <a:spcPts val="0"/>
              </a:spcBef>
              <a:spcAft>
                <a:spcPts val="1000"/>
              </a:spcAft>
              <a:defRPr sz="1600" b="0" i="0">
                <a:solidFill>
                  <a:srgbClr val="1F3864"/>
                </a:solidFill>
                <a:latin typeface="Calibri"/>
              </a:defRPr>
            </a:pPr>
            <a:r>
              <a:t>Silver does the unglamorous work — JDE stores dates as numbers like 126032 and stores $118.43 as the integer 11843. Silver turns those back into real dates and real dollars.</a:t>
            </a:r>
          </a:p>
          <a:p>
            <a:pPr>
              <a:spcBef>
                <a:spcPts val="0"/>
              </a:spcBef>
              <a:spcAft>
                <a:spcPts val="1000"/>
              </a:spcAft>
              <a:defRPr sz="1600" b="0" i="0">
                <a:solidFill>
                  <a:srgbClr val="1F3864"/>
                </a:solidFill>
                <a:latin typeface="Calibri"/>
              </a:defRPr>
            </a:pPr>
            <a:r>
              <a:t>Gold is where the business rules live, and where we shape the data so Power BI is fast.</a:t>
            </a:r>
          </a:p>
          <a:p>
            <a:pPr>
              <a:spcBef>
                <a:spcPts val="0"/>
              </a:spcBef>
              <a:spcAft>
                <a:spcPts val="600"/>
              </a:spcAft>
              <a:defRPr sz="1600" b="1" i="0">
                <a:solidFill>
                  <a:srgbClr val="2E5496"/>
                </a:solidFill>
                <a:latin typeface="Calibri"/>
              </a:defRPr>
            </a:pPr>
            <a:r>
              <a:t>Nothing is copied on a schedule. Changes flow through continuously — roughly 30 seconds from JDE to the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THE STAR SCHEMA</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How the data is organised</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09160" y="2880360"/>
            <a:ext cx="2743200" cy="1371600"/>
          </a:xfrm>
          <a:prstGeom prst="roundRect">
            <a:avLst/>
          </a:prstGeom>
          <a:solidFill>
            <a:srgbClr val="E2EFDA"/>
          </a:solidFill>
          <a:ln w="15875">
            <a:solidFill>
              <a:srgbClr val="4F8A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F3864"/>
                </a:solidFill>
                <a:latin typeface="Calibri"/>
              </a:defRPr>
            </a:pPr>
            <a:r>
              <a:t>fact_sales_tax_</a:t>
            </a:r>
            <a:br/>
            <a:r>
              <a:t>reconciliation</a:t>
            </a:r>
          </a:p>
          <a:p>
            <a:pPr algn="ctr">
              <a:defRPr sz="1000">
                <a:solidFill>
                  <a:srgbClr val="595F69"/>
                </a:solidFill>
                <a:latin typeface="Calibri"/>
              </a:defRPr>
            </a:pPr>
            <a:r>
              <a:t>the numbers</a:t>
            </a:r>
          </a:p>
        </p:txBody>
      </p:sp>
      <p:sp>
        <p:nvSpPr>
          <p:cNvPr id="6" name="Rounded Rectangle 5"/>
          <p:cNvSpPr/>
          <p:nvPr/>
        </p:nvSpPr>
        <p:spPr>
          <a:xfrm>
            <a:off x="777240" y="1691640"/>
            <a:ext cx="2286000" cy="86868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F3864"/>
                </a:solidFill>
                <a:latin typeface="Calibri"/>
              </a:defRPr>
            </a:pPr>
            <a:r>
              <a:t>dim_business_unit</a:t>
            </a:r>
          </a:p>
          <a:p>
            <a:pPr algn="ctr">
              <a:defRPr sz="1000">
                <a:solidFill>
                  <a:srgbClr val="595F69"/>
                </a:solidFill>
                <a:latin typeface="Calibri"/>
              </a:defRPr>
            </a:pPr>
            <a:r>
              <a:t>which plant</a:t>
            </a:r>
          </a:p>
        </p:txBody>
      </p:sp>
      <p:cxnSp>
        <p:nvCxnSpPr>
          <p:cNvPr id="7" name="Connector 6"/>
          <p:cNvCxnSpPr/>
          <p:nvPr/>
        </p:nvCxnSpPr>
        <p:spPr>
          <a:xfrm>
            <a:off x="3063240" y="2125980"/>
            <a:ext cx="1645920" cy="1440180"/>
          </a:xfrm>
          <a:prstGeom prst="line">
            <a:avLst/>
          </a:prstGeom>
          <a:ln w="15875">
            <a:solidFill>
              <a:srgbClr val="A6B4C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77240" y="3108960"/>
            <a:ext cx="2286000" cy="86868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F3864"/>
                </a:solidFill>
                <a:latin typeface="Calibri"/>
              </a:defRPr>
            </a:pPr>
            <a:r>
              <a:t>dim_sic</a:t>
            </a:r>
          </a:p>
          <a:p>
            <a:pPr algn="ctr">
              <a:defRPr sz="1000">
                <a:solidFill>
                  <a:srgbClr val="595F69"/>
                </a:solidFill>
                <a:latin typeface="Calibri"/>
              </a:defRPr>
            </a:pPr>
            <a:r>
              <a:t>customer industry</a:t>
            </a:r>
          </a:p>
        </p:txBody>
      </p:sp>
      <p:cxnSp>
        <p:nvCxnSpPr>
          <p:cNvPr id="9" name="Connector 8"/>
          <p:cNvCxnSpPr/>
          <p:nvPr/>
        </p:nvCxnSpPr>
        <p:spPr>
          <a:xfrm>
            <a:off x="3063240" y="3543300"/>
            <a:ext cx="1645920" cy="22860"/>
          </a:xfrm>
          <a:prstGeom prst="line">
            <a:avLst/>
          </a:prstGeom>
          <a:ln w="15875">
            <a:solidFill>
              <a:srgbClr val="A6B4C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77240" y="4526280"/>
            <a:ext cx="2286000" cy="86868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F3864"/>
                </a:solidFill>
                <a:latin typeface="Calibri"/>
              </a:defRPr>
            </a:pPr>
            <a:r>
              <a:t>dim_state</a:t>
            </a:r>
          </a:p>
          <a:p>
            <a:pPr algn="ctr">
              <a:defRPr sz="1000">
                <a:solidFill>
                  <a:srgbClr val="595F69"/>
                </a:solidFill>
                <a:latin typeface="Calibri"/>
              </a:defRPr>
            </a:pPr>
            <a:r>
              <a:t>tax jurisdiction</a:t>
            </a:r>
          </a:p>
        </p:txBody>
      </p:sp>
      <p:cxnSp>
        <p:nvCxnSpPr>
          <p:cNvPr id="11" name="Connector 10"/>
          <p:cNvCxnSpPr/>
          <p:nvPr/>
        </p:nvCxnSpPr>
        <p:spPr>
          <a:xfrm flipV="1">
            <a:off x="3063240" y="3566160"/>
            <a:ext cx="1645920" cy="1394460"/>
          </a:xfrm>
          <a:prstGeom prst="line">
            <a:avLst/>
          </a:prstGeom>
          <a:ln w="15875">
            <a:solidFill>
              <a:srgbClr val="A6B4C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641080" y="1691640"/>
            <a:ext cx="2286000" cy="86868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F3864"/>
                </a:solidFill>
                <a:latin typeface="Calibri"/>
              </a:defRPr>
            </a:pPr>
            <a:r>
              <a:t>dim_address_ship_to</a:t>
            </a:r>
          </a:p>
          <a:p>
            <a:pPr algn="ctr">
              <a:defRPr sz="1000">
                <a:solidFill>
                  <a:srgbClr val="595F69"/>
                </a:solidFill>
                <a:latin typeface="Calibri"/>
              </a:defRPr>
            </a:pPr>
            <a:r>
              <a:t>who received it</a:t>
            </a:r>
          </a:p>
        </p:txBody>
      </p:sp>
      <p:cxnSp>
        <p:nvCxnSpPr>
          <p:cNvPr id="13" name="Connector 12"/>
          <p:cNvCxnSpPr/>
          <p:nvPr/>
        </p:nvCxnSpPr>
        <p:spPr>
          <a:xfrm flipH="1">
            <a:off x="7452360" y="2125980"/>
            <a:ext cx="1188720" cy="1440180"/>
          </a:xfrm>
          <a:prstGeom prst="line">
            <a:avLst/>
          </a:prstGeom>
          <a:ln w="15875">
            <a:solidFill>
              <a:srgbClr val="A6B4C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641080" y="3108960"/>
            <a:ext cx="2286000" cy="86868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F3864"/>
                </a:solidFill>
                <a:latin typeface="Calibri"/>
              </a:defRPr>
            </a:pPr>
            <a:r>
              <a:t>dim_address_sold_to</a:t>
            </a:r>
          </a:p>
          <a:p>
            <a:pPr algn="ctr">
              <a:defRPr sz="1000">
                <a:solidFill>
                  <a:srgbClr val="595F69"/>
                </a:solidFill>
                <a:latin typeface="Calibri"/>
              </a:defRPr>
            </a:pPr>
            <a:r>
              <a:t>who bought it</a:t>
            </a:r>
          </a:p>
        </p:txBody>
      </p:sp>
      <p:cxnSp>
        <p:nvCxnSpPr>
          <p:cNvPr id="15" name="Connector 14"/>
          <p:cNvCxnSpPr/>
          <p:nvPr/>
        </p:nvCxnSpPr>
        <p:spPr>
          <a:xfrm flipH="1">
            <a:off x="7452360" y="3543300"/>
            <a:ext cx="1188720" cy="22860"/>
          </a:xfrm>
          <a:prstGeom prst="line">
            <a:avLst/>
          </a:prstGeom>
          <a:ln w="15875">
            <a:solidFill>
              <a:srgbClr val="A6B4C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641080" y="4526280"/>
            <a:ext cx="2286000" cy="86868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F3864"/>
                </a:solidFill>
                <a:latin typeface="Calibri"/>
              </a:defRPr>
            </a:pPr>
            <a:r>
              <a:t>dim_address_parent</a:t>
            </a:r>
          </a:p>
          <a:p>
            <a:pPr algn="ctr">
              <a:defRPr sz="1000">
                <a:solidFill>
                  <a:srgbClr val="595F69"/>
                </a:solidFill>
                <a:latin typeface="Calibri"/>
              </a:defRPr>
            </a:pPr>
            <a:r>
              <a:t>parent account</a:t>
            </a:r>
          </a:p>
        </p:txBody>
      </p:sp>
      <p:cxnSp>
        <p:nvCxnSpPr>
          <p:cNvPr id="17" name="Connector 16"/>
          <p:cNvCxnSpPr/>
          <p:nvPr/>
        </p:nvCxnSpPr>
        <p:spPr>
          <a:xfrm flipH="1" flipV="1">
            <a:off x="7452360" y="3566160"/>
            <a:ext cx="1188720" cy="1394460"/>
          </a:xfrm>
          <a:prstGeom prst="line">
            <a:avLst/>
          </a:prstGeom>
          <a:ln w="15875">
            <a:solidFill>
              <a:srgbClr val="A6B4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623560"/>
            <a:ext cx="10881360" cy="914400"/>
          </a:xfrm>
          <a:prstGeom prst="rect">
            <a:avLst/>
          </a:prstGeom>
          <a:noFill/>
        </p:spPr>
        <p:txBody>
          <a:bodyPr wrap="square" anchor="t">
            <a:spAutoFit/>
          </a:bodyPr>
          <a:lstStyle/>
          <a:p>
            <a:pPr algn="l">
              <a:spcBef>
                <a:spcPts val="0"/>
              </a:spcBef>
              <a:spcAft>
                <a:spcPts val="600"/>
              </a:spcAft>
              <a:defRPr sz="1600" b="0" i="0">
                <a:solidFill>
                  <a:srgbClr val="1F3864"/>
                </a:solidFill>
                <a:latin typeface="Calibri"/>
              </a:defRPr>
            </a:pPr>
            <a:r>
              <a:t>One fact table in the middle, six dimensions around it. The fact holds what you add up; the dimensions hold what you slice by.</a:t>
            </a:r>
          </a:p>
          <a:p>
            <a:pPr>
              <a:spcBef>
                <a:spcPts val="0"/>
              </a:spcBef>
              <a:spcAft>
                <a:spcPts val="600"/>
              </a:spcAft>
              <a:defRPr sz="1500" b="0" i="1">
                <a:solidFill>
                  <a:srgbClr val="595F69"/>
                </a:solidFill>
                <a:latin typeface="Calibri"/>
              </a:defRPr>
            </a:pPr>
            <a:r>
              <a:t>Three of the six were already built by other reports — we reuse them rather than duplicate.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FACT</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The fact table — what one row means</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28800"/>
            <a:ext cx="10881360" cy="868680"/>
          </a:xfrm>
          <a:prstGeom prst="roundRect">
            <a:avLst/>
          </a:prstGeom>
          <a:solidFill>
            <a:srgbClr val="E2EFDA"/>
          </a:solidFill>
          <a:ln w="15875">
            <a:solidFill>
              <a:srgbClr val="4F8A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1">
                <a:solidFill>
                  <a:srgbClr val="1F3864"/>
                </a:solidFill>
                <a:latin typeface="Calibri"/>
              </a:defRPr>
            </a:pPr>
            <a:r>
              <a:t>One row = one invoice, on one plant, for one customer, in one tax jurisdiction</a:t>
            </a:r>
          </a:p>
        </p:txBody>
      </p:sp>
      <p:sp>
        <p:nvSpPr>
          <p:cNvPr id="6" name="TextBox 5"/>
          <p:cNvSpPr txBox="1"/>
          <p:nvPr/>
        </p:nvSpPr>
        <p:spPr>
          <a:xfrm>
            <a:off x="640080" y="2971800"/>
            <a:ext cx="5120640" cy="3108960"/>
          </a:xfrm>
          <a:prstGeom prst="rect">
            <a:avLst/>
          </a:prstGeom>
          <a:noFill/>
        </p:spPr>
        <p:txBody>
          <a:bodyPr wrap="square" anchor="t">
            <a:spAutoFit/>
          </a:bodyPr>
          <a:lstStyle/>
          <a:p>
            <a:pPr algn="l">
              <a:spcBef>
                <a:spcPts val="0"/>
              </a:spcBef>
              <a:spcAft>
                <a:spcPts val="1000"/>
              </a:spcAft>
              <a:defRPr sz="1900" b="1" i="0">
                <a:solidFill>
                  <a:srgbClr val="1F3864"/>
                </a:solidFill>
                <a:latin typeface="Calibri"/>
              </a:defRPr>
            </a:pPr>
            <a:r>
              <a:t>It carries four numbers</a:t>
            </a:r>
          </a:p>
          <a:p>
            <a:pPr>
              <a:spcBef>
                <a:spcPts val="0"/>
              </a:spcBef>
              <a:spcAft>
                <a:spcPts val="500"/>
              </a:spcAft>
              <a:defRPr sz="1700" b="0" i="0">
                <a:solidFill>
                  <a:srgbClr val="1F3864"/>
                </a:solidFill>
                <a:latin typeface="Calibri"/>
              </a:defRPr>
            </a:pPr>
            <a:r>
              <a:t>•  Taxable amount</a:t>
            </a:r>
          </a:p>
          <a:p>
            <a:pPr>
              <a:spcBef>
                <a:spcPts val="0"/>
              </a:spcBef>
              <a:spcAft>
                <a:spcPts val="500"/>
              </a:spcAft>
              <a:defRPr sz="1700" b="0" i="0">
                <a:solidFill>
                  <a:srgbClr val="1F3864"/>
                </a:solidFill>
                <a:latin typeface="Calibri"/>
              </a:defRPr>
            </a:pPr>
            <a:r>
              <a:t>•  Non-taxable amount</a:t>
            </a:r>
          </a:p>
          <a:p>
            <a:pPr>
              <a:spcBef>
                <a:spcPts val="0"/>
              </a:spcBef>
              <a:spcAft>
                <a:spcPts val="500"/>
              </a:spcAft>
              <a:defRPr sz="1700" b="0" i="0">
                <a:solidFill>
                  <a:srgbClr val="1F3864"/>
                </a:solidFill>
                <a:latin typeface="Calibri"/>
              </a:defRPr>
            </a:pPr>
            <a:r>
              <a:t>•  Tax amount</a:t>
            </a:r>
          </a:p>
          <a:p>
            <a:pPr>
              <a:spcBef>
                <a:spcPts val="0"/>
              </a:spcBef>
              <a:spcAft>
                <a:spcPts val="500"/>
              </a:spcAft>
              <a:defRPr sz="1700" b="0" i="0">
                <a:solidFill>
                  <a:srgbClr val="1F3864"/>
                </a:solidFill>
                <a:latin typeface="Calibri"/>
              </a:defRPr>
            </a:pPr>
            <a:r>
              <a:t>•  Gross amount</a:t>
            </a:r>
          </a:p>
          <a:p>
            <a:pPr>
              <a:spcBef>
                <a:spcPts val="1000"/>
              </a:spcBef>
              <a:spcAft>
                <a:spcPts val="600"/>
              </a:spcAft>
              <a:defRPr sz="1400" b="0" i="1">
                <a:solidFill>
                  <a:srgbClr val="595F69"/>
                </a:solidFill>
                <a:latin typeface="Calibri"/>
              </a:defRPr>
            </a:pPr>
            <a:r>
              <a:t>Everything else on the row is there to tell you WHICH invoice, WHERE, and for WHOM.</a:t>
            </a:r>
          </a:p>
        </p:txBody>
      </p:sp>
      <p:sp>
        <p:nvSpPr>
          <p:cNvPr id="7" name="TextBox 6"/>
          <p:cNvSpPr txBox="1"/>
          <p:nvPr/>
        </p:nvSpPr>
        <p:spPr>
          <a:xfrm>
            <a:off x="6126480" y="2971800"/>
            <a:ext cx="5394960" cy="3108960"/>
          </a:xfrm>
          <a:prstGeom prst="rect">
            <a:avLst/>
          </a:prstGeom>
          <a:noFill/>
        </p:spPr>
        <p:txBody>
          <a:bodyPr wrap="square" anchor="t">
            <a:spAutoFit/>
          </a:bodyPr>
          <a:lstStyle/>
          <a:p>
            <a:pPr algn="l">
              <a:spcBef>
                <a:spcPts val="0"/>
              </a:spcBef>
              <a:spcAft>
                <a:spcPts val="1000"/>
              </a:spcAft>
              <a:defRPr sz="1900" b="1" i="0">
                <a:solidFill>
                  <a:srgbClr val="1F3864"/>
                </a:solidFill>
                <a:latin typeface="Calibri"/>
              </a:defRPr>
            </a:pPr>
            <a:r>
              <a:t>And it stores codes, not names</a:t>
            </a:r>
          </a:p>
          <a:p>
            <a:pPr>
              <a:spcBef>
                <a:spcPts val="0"/>
              </a:spcBef>
              <a:spcAft>
                <a:spcPts val="600"/>
              </a:spcAft>
              <a:defRPr sz="1600" b="0" i="0">
                <a:solidFill>
                  <a:srgbClr val="1F3864"/>
                </a:solidFill>
                <a:latin typeface="Calibri"/>
              </a:defRPr>
            </a:pPr>
            <a:r>
              <a:t>The fact says the jurisdiction is "CO".</a:t>
            </a:r>
          </a:p>
          <a:p>
            <a:pPr>
              <a:spcBef>
                <a:spcPts val="0"/>
              </a:spcBef>
              <a:spcAft>
                <a:spcPts val="1200"/>
              </a:spcAft>
              <a:defRPr sz="1600" b="0" i="0">
                <a:solidFill>
                  <a:srgbClr val="1F3864"/>
                </a:solidFill>
                <a:latin typeface="Calibri"/>
              </a:defRPr>
            </a:pPr>
            <a:r>
              <a:t>dim_state says "CO" means Colorado.</a:t>
            </a:r>
          </a:p>
          <a:p>
            <a:pPr>
              <a:spcBef>
                <a:spcPts val="0"/>
              </a:spcBef>
              <a:spcAft>
                <a:spcPts val="600"/>
              </a:spcAft>
              <a:defRPr sz="1500" b="0" i="0">
                <a:solidFill>
                  <a:srgbClr val="595F69"/>
                </a:solidFill>
                <a:latin typeface="Calibri"/>
              </a:defRPr>
            </a:pPr>
            <a:r>
              <a:t>Storing the short code once and the name once — instead of the name on every row — is what keeps the report fast.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DIMENSIONS</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The dimension tables</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20240"/>
            <a:ext cx="2743200" cy="658368"/>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F3864"/>
                </a:solidFill>
                <a:latin typeface="Calibri"/>
              </a:defRPr>
            </a:pPr>
            <a:r>
              <a:t>dim_business_unit</a:t>
            </a:r>
          </a:p>
        </p:txBody>
      </p:sp>
      <p:sp>
        <p:nvSpPr>
          <p:cNvPr id="6" name="TextBox 5"/>
          <p:cNvSpPr txBox="1"/>
          <p:nvPr/>
        </p:nvSpPr>
        <p:spPr>
          <a:xfrm>
            <a:off x="3611880" y="1975104"/>
            <a:ext cx="2834640" cy="54864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Plant / business unit</a:t>
            </a:r>
          </a:p>
        </p:txBody>
      </p:sp>
      <p:sp>
        <p:nvSpPr>
          <p:cNvPr id="7" name="TextBox 6"/>
          <p:cNvSpPr txBox="1"/>
          <p:nvPr/>
        </p:nvSpPr>
        <p:spPr>
          <a:xfrm>
            <a:off x="6583680" y="1975104"/>
            <a:ext cx="3017520" cy="548640"/>
          </a:xfrm>
          <a:prstGeom prst="rect">
            <a:avLst/>
          </a:prstGeom>
          <a:noFill/>
        </p:spPr>
        <p:txBody>
          <a:bodyPr wrap="square" anchor="t">
            <a:spAutoFit/>
          </a:bodyPr>
          <a:lstStyle/>
          <a:p>
            <a:pPr algn="l">
              <a:spcBef>
                <a:spcPts val="0"/>
              </a:spcBef>
              <a:spcAft>
                <a:spcPts val="0"/>
              </a:spcAft>
              <a:defRPr sz="1400" b="0" i="0">
                <a:solidFill>
                  <a:srgbClr val="595F69"/>
                </a:solidFill>
                <a:latin typeface="Calibri"/>
              </a:defRPr>
            </a:pPr>
            <a:r>
              <a:t>Which plant shipped it</a:t>
            </a:r>
          </a:p>
        </p:txBody>
      </p:sp>
      <p:sp>
        <p:nvSpPr>
          <p:cNvPr id="8" name="TextBox 7"/>
          <p:cNvSpPr txBox="1"/>
          <p:nvPr/>
        </p:nvSpPr>
        <p:spPr>
          <a:xfrm>
            <a:off x="9784080" y="1975104"/>
            <a:ext cx="1828800" cy="548640"/>
          </a:xfrm>
          <a:prstGeom prst="rect">
            <a:avLst/>
          </a:prstGeom>
          <a:noFill/>
        </p:spPr>
        <p:txBody>
          <a:bodyPr wrap="square" anchor="t">
            <a:spAutoFit/>
          </a:bodyPr>
          <a:lstStyle/>
          <a:p>
            <a:pPr algn="l">
              <a:spcBef>
                <a:spcPts val="0"/>
              </a:spcBef>
              <a:spcAft>
                <a:spcPts val="0"/>
              </a:spcAft>
              <a:defRPr sz="1200" b="1" i="0">
                <a:solidFill>
                  <a:srgbClr val="4F8A3E"/>
                </a:solidFill>
                <a:latin typeface="Calibri"/>
              </a:defRPr>
            </a:pPr>
            <a:r>
              <a:t>Shared with ESO5</a:t>
            </a:r>
          </a:p>
        </p:txBody>
      </p:sp>
      <p:sp>
        <p:nvSpPr>
          <p:cNvPr id="9" name="Rounded Rectangle 8"/>
          <p:cNvSpPr/>
          <p:nvPr/>
        </p:nvSpPr>
        <p:spPr>
          <a:xfrm>
            <a:off x="640080" y="2697480"/>
            <a:ext cx="2743200" cy="658368"/>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F3864"/>
                </a:solidFill>
                <a:latin typeface="Calibri"/>
              </a:defRPr>
            </a:pPr>
            <a:r>
              <a:t>dim_sic</a:t>
            </a:r>
          </a:p>
        </p:txBody>
      </p:sp>
      <p:sp>
        <p:nvSpPr>
          <p:cNvPr id="10" name="TextBox 9"/>
          <p:cNvSpPr txBox="1"/>
          <p:nvPr/>
        </p:nvSpPr>
        <p:spPr>
          <a:xfrm>
            <a:off x="3611880" y="2752344"/>
            <a:ext cx="2834640" cy="54864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Customer industry code</a:t>
            </a:r>
          </a:p>
        </p:txBody>
      </p:sp>
      <p:sp>
        <p:nvSpPr>
          <p:cNvPr id="11" name="TextBox 10"/>
          <p:cNvSpPr txBox="1"/>
          <p:nvPr/>
        </p:nvSpPr>
        <p:spPr>
          <a:xfrm>
            <a:off x="6583680" y="2752344"/>
            <a:ext cx="3017520" cy="548640"/>
          </a:xfrm>
          <a:prstGeom prst="rect">
            <a:avLst/>
          </a:prstGeom>
          <a:noFill/>
        </p:spPr>
        <p:txBody>
          <a:bodyPr wrap="square" anchor="t">
            <a:spAutoFit/>
          </a:bodyPr>
          <a:lstStyle/>
          <a:p>
            <a:pPr algn="l">
              <a:spcBef>
                <a:spcPts val="0"/>
              </a:spcBef>
              <a:spcAft>
                <a:spcPts val="0"/>
              </a:spcAft>
              <a:defRPr sz="1400" b="0" i="0">
                <a:solidFill>
                  <a:srgbClr val="595F69"/>
                </a:solidFill>
                <a:latin typeface="Calibri"/>
              </a:defRPr>
            </a:pPr>
            <a:r>
              <a:t>SIC code → description</a:t>
            </a:r>
          </a:p>
        </p:txBody>
      </p:sp>
      <p:sp>
        <p:nvSpPr>
          <p:cNvPr id="12" name="TextBox 11"/>
          <p:cNvSpPr txBox="1"/>
          <p:nvPr/>
        </p:nvSpPr>
        <p:spPr>
          <a:xfrm>
            <a:off x="9784080" y="2752344"/>
            <a:ext cx="1828800" cy="548640"/>
          </a:xfrm>
          <a:prstGeom prst="rect">
            <a:avLst/>
          </a:prstGeom>
          <a:noFill/>
        </p:spPr>
        <p:txBody>
          <a:bodyPr wrap="square" anchor="t">
            <a:spAutoFit/>
          </a:bodyPr>
          <a:lstStyle/>
          <a:p>
            <a:pPr algn="l">
              <a:spcBef>
                <a:spcPts val="0"/>
              </a:spcBef>
              <a:spcAft>
                <a:spcPts val="0"/>
              </a:spcAft>
              <a:defRPr sz="1200" b="1" i="0">
                <a:solidFill>
                  <a:srgbClr val="4F8A3E"/>
                </a:solidFill>
                <a:latin typeface="Calibri"/>
              </a:defRPr>
            </a:pPr>
            <a:r>
              <a:t>Built by ESO4</a:t>
            </a:r>
          </a:p>
        </p:txBody>
      </p:sp>
      <p:sp>
        <p:nvSpPr>
          <p:cNvPr id="13" name="Rounded Rectangle 12"/>
          <p:cNvSpPr/>
          <p:nvPr/>
        </p:nvSpPr>
        <p:spPr>
          <a:xfrm>
            <a:off x="640080" y="3474720"/>
            <a:ext cx="2743200" cy="658368"/>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F3864"/>
                </a:solidFill>
                <a:latin typeface="Calibri"/>
              </a:defRPr>
            </a:pPr>
            <a:r>
              <a:t>dim_state</a:t>
            </a:r>
          </a:p>
        </p:txBody>
      </p:sp>
      <p:sp>
        <p:nvSpPr>
          <p:cNvPr id="14" name="TextBox 13"/>
          <p:cNvSpPr txBox="1"/>
          <p:nvPr/>
        </p:nvSpPr>
        <p:spPr>
          <a:xfrm>
            <a:off x="3611880" y="3529584"/>
            <a:ext cx="2834640" cy="54864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State / jurisdiction</a:t>
            </a:r>
          </a:p>
        </p:txBody>
      </p:sp>
      <p:sp>
        <p:nvSpPr>
          <p:cNvPr id="15" name="TextBox 14"/>
          <p:cNvSpPr txBox="1"/>
          <p:nvPr/>
        </p:nvSpPr>
        <p:spPr>
          <a:xfrm>
            <a:off x="6583680" y="3529584"/>
            <a:ext cx="3017520" cy="548640"/>
          </a:xfrm>
          <a:prstGeom prst="rect">
            <a:avLst/>
          </a:prstGeom>
          <a:noFill/>
        </p:spPr>
        <p:txBody>
          <a:bodyPr wrap="square" anchor="t">
            <a:spAutoFit/>
          </a:bodyPr>
          <a:lstStyle/>
          <a:p>
            <a:pPr algn="l">
              <a:spcBef>
                <a:spcPts val="0"/>
              </a:spcBef>
              <a:spcAft>
                <a:spcPts val="0"/>
              </a:spcAft>
              <a:defRPr sz="1400" b="0" i="0">
                <a:solidFill>
                  <a:srgbClr val="595F69"/>
                </a:solidFill>
                <a:latin typeface="Calibri"/>
              </a:defRPr>
            </a:pPr>
            <a:r>
              <a:t>"CO" → Colorado</a:t>
            </a:r>
          </a:p>
        </p:txBody>
      </p:sp>
      <p:sp>
        <p:nvSpPr>
          <p:cNvPr id="16" name="TextBox 15"/>
          <p:cNvSpPr txBox="1"/>
          <p:nvPr/>
        </p:nvSpPr>
        <p:spPr>
          <a:xfrm>
            <a:off x="9784080" y="3529584"/>
            <a:ext cx="1828800" cy="548640"/>
          </a:xfrm>
          <a:prstGeom prst="rect">
            <a:avLst/>
          </a:prstGeom>
          <a:noFill/>
        </p:spPr>
        <p:txBody>
          <a:bodyPr wrap="square" anchor="t">
            <a:spAutoFit/>
          </a:bodyPr>
          <a:lstStyle/>
          <a:p>
            <a:pPr algn="l">
              <a:spcBef>
                <a:spcPts val="0"/>
              </a:spcBef>
              <a:spcAft>
                <a:spcPts val="0"/>
              </a:spcAft>
              <a:defRPr sz="1200" b="1" i="0">
                <a:solidFill>
                  <a:srgbClr val="4F8A3E"/>
                </a:solidFill>
                <a:latin typeface="Calibri"/>
              </a:defRPr>
            </a:pPr>
            <a:r>
              <a:t>Built by ESO4</a:t>
            </a:r>
          </a:p>
        </p:txBody>
      </p:sp>
      <p:sp>
        <p:nvSpPr>
          <p:cNvPr id="17" name="Rounded Rectangle 16"/>
          <p:cNvSpPr/>
          <p:nvPr/>
        </p:nvSpPr>
        <p:spPr>
          <a:xfrm>
            <a:off x="640080" y="4251960"/>
            <a:ext cx="2743200" cy="658368"/>
          </a:xfrm>
          <a:prstGeom prst="roundRect">
            <a:avLst/>
          </a:prstGeom>
          <a:solidFill>
            <a:srgbClr val="EEEFF1"/>
          </a:solidFill>
          <a:ln w="15875">
            <a:solidFill>
              <a:srgbClr val="595F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F3864"/>
                </a:solidFill>
                <a:latin typeface="Calibri"/>
              </a:defRPr>
            </a:pPr>
            <a:r>
              <a:t>dim_address_ship_to</a:t>
            </a:r>
          </a:p>
        </p:txBody>
      </p:sp>
      <p:sp>
        <p:nvSpPr>
          <p:cNvPr id="18" name="TextBox 17"/>
          <p:cNvSpPr txBox="1"/>
          <p:nvPr/>
        </p:nvSpPr>
        <p:spPr>
          <a:xfrm>
            <a:off x="3611880" y="4306824"/>
            <a:ext cx="2834640" cy="54864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Ship-to customer</a:t>
            </a:r>
          </a:p>
        </p:txBody>
      </p:sp>
      <p:sp>
        <p:nvSpPr>
          <p:cNvPr id="19" name="TextBox 18"/>
          <p:cNvSpPr txBox="1"/>
          <p:nvPr/>
        </p:nvSpPr>
        <p:spPr>
          <a:xfrm>
            <a:off x="6583680" y="4306824"/>
            <a:ext cx="3017520" cy="548640"/>
          </a:xfrm>
          <a:prstGeom prst="rect">
            <a:avLst/>
          </a:prstGeom>
          <a:noFill/>
        </p:spPr>
        <p:txBody>
          <a:bodyPr wrap="square" anchor="t">
            <a:spAutoFit/>
          </a:bodyPr>
          <a:lstStyle/>
          <a:p>
            <a:pPr algn="l">
              <a:spcBef>
                <a:spcPts val="0"/>
              </a:spcBef>
              <a:spcAft>
                <a:spcPts val="0"/>
              </a:spcAft>
              <a:defRPr sz="1400" b="0" i="0">
                <a:solidFill>
                  <a:srgbClr val="595F69"/>
                </a:solidFill>
                <a:latin typeface="Calibri"/>
              </a:defRPr>
            </a:pPr>
            <a:r>
              <a:t>Who received the goods</a:t>
            </a:r>
          </a:p>
        </p:txBody>
      </p:sp>
      <p:sp>
        <p:nvSpPr>
          <p:cNvPr id="20" name="TextBox 19"/>
          <p:cNvSpPr txBox="1"/>
          <p:nvPr/>
        </p:nvSpPr>
        <p:spPr>
          <a:xfrm>
            <a:off x="9784080" y="4306824"/>
            <a:ext cx="1828800" cy="548640"/>
          </a:xfrm>
          <a:prstGeom prst="rect">
            <a:avLst/>
          </a:prstGeom>
          <a:noFill/>
        </p:spPr>
        <p:txBody>
          <a:bodyPr wrap="square" anchor="t">
            <a:spAutoFit/>
          </a:bodyPr>
          <a:lstStyle/>
          <a:p>
            <a:pPr algn="l">
              <a:spcBef>
                <a:spcPts val="0"/>
              </a:spcBef>
              <a:spcAft>
                <a:spcPts val="0"/>
              </a:spcAft>
              <a:defRPr sz="1200" b="0" i="0">
                <a:solidFill>
                  <a:srgbClr val="595F69"/>
                </a:solidFill>
                <a:latin typeface="Calibri"/>
              </a:defRPr>
            </a:pPr>
            <a:r>
              <a:t>Reused</a:t>
            </a:r>
          </a:p>
        </p:txBody>
      </p:sp>
      <p:sp>
        <p:nvSpPr>
          <p:cNvPr id="21" name="Rounded Rectangle 20"/>
          <p:cNvSpPr/>
          <p:nvPr/>
        </p:nvSpPr>
        <p:spPr>
          <a:xfrm>
            <a:off x="640080" y="5029200"/>
            <a:ext cx="2743200" cy="658368"/>
          </a:xfrm>
          <a:prstGeom prst="roundRect">
            <a:avLst/>
          </a:prstGeom>
          <a:solidFill>
            <a:srgbClr val="EEEFF1"/>
          </a:solidFill>
          <a:ln w="15875">
            <a:solidFill>
              <a:srgbClr val="595F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F3864"/>
                </a:solidFill>
                <a:latin typeface="Calibri"/>
              </a:defRPr>
            </a:pPr>
            <a:r>
              <a:t>dim_address_sold_to</a:t>
            </a:r>
          </a:p>
        </p:txBody>
      </p:sp>
      <p:sp>
        <p:nvSpPr>
          <p:cNvPr id="22" name="TextBox 21"/>
          <p:cNvSpPr txBox="1"/>
          <p:nvPr/>
        </p:nvSpPr>
        <p:spPr>
          <a:xfrm>
            <a:off x="3611880" y="5084064"/>
            <a:ext cx="2834640" cy="54864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Sold-to customer</a:t>
            </a:r>
          </a:p>
        </p:txBody>
      </p:sp>
      <p:sp>
        <p:nvSpPr>
          <p:cNvPr id="23" name="TextBox 22"/>
          <p:cNvSpPr txBox="1"/>
          <p:nvPr/>
        </p:nvSpPr>
        <p:spPr>
          <a:xfrm>
            <a:off x="6583680" y="5084064"/>
            <a:ext cx="3017520" cy="548640"/>
          </a:xfrm>
          <a:prstGeom prst="rect">
            <a:avLst/>
          </a:prstGeom>
          <a:noFill/>
        </p:spPr>
        <p:txBody>
          <a:bodyPr wrap="square" anchor="t">
            <a:spAutoFit/>
          </a:bodyPr>
          <a:lstStyle/>
          <a:p>
            <a:pPr algn="l">
              <a:spcBef>
                <a:spcPts val="0"/>
              </a:spcBef>
              <a:spcAft>
                <a:spcPts val="0"/>
              </a:spcAft>
              <a:defRPr sz="1400" b="0" i="0">
                <a:solidFill>
                  <a:srgbClr val="595F69"/>
                </a:solidFill>
                <a:latin typeface="Calibri"/>
              </a:defRPr>
            </a:pPr>
            <a:r>
              <a:t>Who was invoiced</a:t>
            </a:r>
          </a:p>
        </p:txBody>
      </p:sp>
      <p:sp>
        <p:nvSpPr>
          <p:cNvPr id="24" name="TextBox 23"/>
          <p:cNvSpPr txBox="1"/>
          <p:nvPr/>
        </p:nvSpPr>
        <p:spPr>
          <a:xfrm>
            <a:off x="9784080" y="5084064"/>
            <a:ext cx="1828800" cy="548640"/>
          </a:xfrm>
          <a:prstGeom prst="rect">
            <a:avLst/>
          </a:prstGeom>
          <a:noFill/>
        </p:spPr>
        <p:txBody>
          <a:bodyPr wrap="square" anchor="t">
            <a:spAutoFit/>
          </a:bodyPr>
          <a:lstStyle/>
          <a:p>
            <a:pPr algn="l">
              <a:spcBef>
                <a:spcPts val="0"/>
              </a:spcBef>
              <a:spcAft>
                <a:spcPts val="0"/>
              </a:spcAft>
              <a:defRPr sz="1200" b="0" i="0">
                <a:solidFill>
                  <a:srgbClr val="595F69"/>
                </a:solidFill>
                <a:latin typeface="Calibri"/>
              </a:defRPr>
            </a:pPr>
            <a:r>
              <a:t>Reused</a:t>
            </a:r>
          </a:p>
        </p:txBody>
      </p:sp>
      <p:sp>
        <p:nvSpPr>
          <p:cNvPr id="25" name="Rounded Rectangle 24"/>
          <p:cNvSpPr/>
          <p:nvPr/>
        </p:nvSpPr>
        <p:spPr>
          <a:xfrm>
            <a:off x="640080" y="5806440"/>
            <a:ext cx="2743200" cy="658368"/>
          </a:xfrm>
          <a:prstGeom prst="roundRect">
            <a:avLst/>
          </a:prstGeom>
          <a:solidFill>
            <a:srgbClr val="EEEFF1"/>
          </a:solidFill>
          <a:ln w="15875">
            <a:solidFill>
              <a:srgbClr val="595F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F3864"/>
                </a:solidFill>
                <a:latin typeface="Calibri"/>
              </a:defRPr>
            </a:pPr>
            <a:r>
              <a:t>dim_address_parent</a:t>
            </a:r>
          </a:p>
        </p:txBody>
      </p:sp>
      <p:sp>
        <p:nvSpPr>
          <p:cNvPr id="26" name="TextBox 25"/>
          <p:cNvSpPr txBox="1"/>
          <p:nvPr/>
        </p:nvSpPr>
        <p:spPr>
          <a:xfrm>
            <a:off x="3611880" y="5861303"/>
            <a:ext cx="2834640" cy="54864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Parent account</a:t>
            </a:r>
          </a:p>
        </p:txBody>
      </p:sp>
      <p:sp>
        <p:nvSpPr>
          <p:cNvPr id="27" name="TextBox 26"/>
          <p:cNvSpPr txBox="1"/>
          <p:nvPr/>
        </p:nvSpPr>
        <p:spPr>
          <a:xfrm>
            <a:off x="6583680" y="5861303"/>
            <a:ext cx="3017520" cy="548640"/>
          </a:xfrm>
          <a:prstGeom prst="rect">
            <a:avLst/>
          </a:prstGeom>
          <a:noFill/>
        </p:spPr>
        <p:txBody>
          <a:bodyPr wrap="square" anchor="t">
            <a:spAutoFit/>
          </a:bodyPr>
          <a:lstStyle/>
          <a:p>
            <a:pPr algn="l">
              <a:spcBef>
                <a:spcPts val="0"/>
              </a:spcBef>
              <a:spcAft>
                <a:spcPts val="0"/>
              </a:spcAft>
              <a:defRPr sz="1400" b="0" i="0">
                <a:solidFill>
                  <a:srgbClr val="595F69"/>
                </a:solidFill>
                <a:latin typeface="Calibri"/>
              </a:defRPr>
            </a:pPr>
            <a:r>
              <a:t>Corporate roll-up</a:t>
            </a:r>
          </a:p>
        </p:txBody>
      </p:sp>
      <p:sp>
        <p:nvSpPr>
          <p:cNvPr id="28" name="TextBox 27"/>
          <p:cNvSpPr txBox="1"/>
          <p:nvPr/>
        </p:nvSpPr>
        <p:spPr>
          <a:xfrm>
            <a:off x="9784080" y="5861303"/>
            <a:ext cx="1828800" cy="548640"/>
          </a:xfrm>
          <a:prstGeom prst="rect">
            <a:avLst/>
          </a:prstGeom>
          <a:noFill/>
        </p:spPr>
        <p:txBody>
          <a:bodyPr wrap="square" anchor="t">
            <a:spAutoFit/>
          </a:bodyPr>
          <a:lstStyle/>
          <a:p>
            <a:pPr algn="l">
              <a:spcBef>
                <a:spcPts val="0"/>
              </a:spcBef>
              <a:spcAft>
                <a:spcPts val="0"/>
              </a:spcAft>
              <a:defRPr sz="1200" b="0" i="0">
                <a:solidFill>
                  <a:srgbClr val="595F69"/>
                </a:solidFill>
                <a:latin typeface="Calibri"/>
              </a:defRPr>
            </a:pPr>
            <a:r>
              <a:t>Reused</a:t>
            </a:r>
          </a:p>
        </p:txBody>
      </p:sp>
      <p:sp>
        <p:nvSpPr>
          <p:cNvPr id="29" name="TextBox 28"/>
          <p:cNvSpPr txBox="1"/>
          <p:nvPr/>
        </p:nvSpPr>
        <p:spPr>
          <a:xfrm>
            <a:off x="3611880" y="1481328"/>
            <a:ext cx="7955279" cy="365760"/>
          </a:xfrm>
          <a:prstGeom prst="rect">
            <a:avLst/>
          </a:prstGeom>
          <a:noFill/>
        </p:spPr>
        <p:txBody>
          <a:bodyPr wrap="square" anchor="t">
            <a:spAutoFit/>
          </a:bodyPr>
          <a:lstStyle/>
          <a:p>
            <a:pPr algn="l">
              <a:spcBef>
                <a:spcPts val="0"/>
              </a:spcBef>
              <a:spcAft>
                <a:spcPts val="0"/>
              </a:spcAft>
              <a:defRPr sz="1000" b="1" i="0">
                <a:solidFill>
                  <a:srgbClr val="2E5496"/>
                </a:solidFill>
                <a:latin typeface="Calibri"/>
              </a:defRPr>
            </a:pPr>
            <a:r>
              <a:t>WHAT IT DESCRIBES</a:t>
            </a:r>
          </a:p>
        </p:txBody>
      </p:sp>
      <p:sp>
        <p:nvSpPr>
          <p:cNvPr id="30" name="TextBox 29"/>
          <p:cNvSpPr txBox="1"/>
          <p:nvPr/>
        </p:nvSpPr>
        <p:spPr>
          <a:xfrm>
            <a:off x="6583680" y="1481328"/>
            <a:ext cx="4937760" cy="365760"/>
          </a:xfrm>
          <a:prstGeom prst="rect">
            <a:avLst/>
          </a:prstGeom>
          <a:noFill/>
        </p:spPr>
        <p:txBody>
          <a:bodyPr wrap="square" anchor="t">
            <a:spAutoFit/>
          </a:bodyPr>
          <a:lstStyle/>
          <a:p>
            <a:pPr algn="l">
              <a:spcBef>
                <a:spcPts val="0"/>
              </a:spcBef>
              <a:spcAft>
                <a:spcPts val="0"/>
              </a:spcAft>
              <a:defRPr sz="1000" b="1" i="0">
                <a:solidFill>
                  <a:srgbClr val="2E5496"/>
                </a:solidFill>
                <a:latin typeface="Calibri"/>
              </a:defRPr>
            </a:pPr>
            <a:r>
              <a:t>EXAMPLE</a:t>
            </a:r>
          </a:p>
        </p:txBody>
      </p:sp>
      <p:sp>
        <p:nvSpPr>
          <p:cNvPr id="31" name="TextBox 30"/>
          <p:cNvSpPr txBox="1"/>
          <p:nvPr/>
        </p:nvSpPr>
        <p:spPr>
          <a:xfrm>
            <a:off x="9784080" y="1481328"/>
            <a:ext cx="2286000" cy="365760"/>
          </a:xfrm>
          <a:prstGeom prst="rect">
            <a:avLst/>
          </a:prstGeom>
          <a:noFill/>
        </p:spPr>
        <p:txBody>
          <a:bodyPr wrap="square" anchor="t">
            <a:spAutoFit/>
          </a:bodyPr>
          <a:lstStyle/>
          <a:p>
            <a:pPr algn="l">
              <a:spcBef>
                <a:spcPts val="0"/>
              </a:spcBef>
              <a:spcAft>
                <a:spcPts val="0"/>
              </a:spcAft>
              <a:defRPr sz="1000" b="1" i="0">
                <a:solidFill>
                  <a:srgbClr val="2E5496"/>
                </a:solidFill>
                <a:latin typeface="Calibri"/>
              </a:defRPr>
            </a:pPr>
            <a:r>
              <a:t>OWNERSHIP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JOINS</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How the tables connect</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20240"/>
            <a:ext cx="3108960" cy="105156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F3864"/>
                </a:solidFill>
                <a:latin typeface="Calibri"/>
              </a:defRPr>
            </a:pPr>
            <a:r>
              <a:t>Sales order line</a:t>
            </a:r>
          </a:p>
          <a:p>
            <a:pPr algn="ctr">
              <a:defRPr sz="1000">
                <a:solidFill>
                  <a:srgbClr val="595F69"/>
                </a:solidFill>
                <a:latin typeface="Calibri"/>
              </a:defRPr>
            </a:pPr>
            <a:r>
              <a:t>F4211 — what we shipped</a:t>
            </a:r>
          </a:p>
        </p:txBody>
      </p:sp>
      <p:sp>
        <p:nvSpPr>
          <p:cNvPr id="6" name="Rounded Rectangle 5"/>
          <p:cNvSpPr/>
          <p:nvPr/>
        </p:nvSpPr>
        <p:spPr>
          <a:xfrm>
            <a:off x="4663440" y="1920240"/>
            <a:ext cx="3108960" cy="105156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F3864"/>
                </a:solidFill>
                <a:latin typeface="Calibri"/>
              </a:defRPr>
            </a:pPr>
            <a:r>
              <a:t>Customer invoice</a:t>
            </a:r>
          </a:p>
          <a:p>
            <a:pPr algn="ctr">
              <a:defRPr sz="1000">
                <a:solidFill>
                  <a:srgbClr val="595F69"/>
                </a:solidFill>
                <a:latin typeface="Calibri"/>
              </a:defRPr>
            </a:pPr>
            <a:r>
              <a:t>F03B11 — what we billed</a:t>
            </a:r>
          </a:p>
        </p:txBody>
      </p:sp>
      <p:cxnSp>
        <p:nvCxnSpPr>
          <p:cNvPr id="7" name="Connector 6"/>
          <p:cNvCxnSpPr/>
          <p:nvPr/>
        </p:nvCxnSpPr>
        <p:spPr>
          <a:xfrm>
            <a:off x="3749039" y="2450592"/>
            <a:ext cx="914401" cy="0"/>
          </a:xfrm>
          <a:prstGeom prst="line">
            <a:avLst/>
          </a:prstGeom>
          <a:ln w="22225">
            <a:solidFill>
              <a:srgbClr val="2E54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246120" y="1508760"/>
            <a:ext cx="2377440" cy="365760"/>
          </a:xfrm>
          <a:prstGeom prst="rect">
            <a:avLst/>
          </a:prstGeom>
          <a:noFill/>
        </p:spPr>
        <p:txBody>
          <a:bodyPr wrap="square" anchor="t">
            <a:spAutoFit/>
          </a:bodyPr>
          <a:lstStyle/>
          <a:p>
            <a:pPr algn="ctr">
              <a:spcBef>
                <a:spcPts val="0"/>
              </a:spcBef>
              <a:spcAft>
                <a:spcPts val="600"/>
              </a:spcAft>
              <a:defRPr sz="1100" b="1" i="0">
                <a:solidFill>
                  <a:srgbClr val="2E5496"/>
                </a:solidFill>
                <a:latin typeface="Calibri"/>
              </a:defRPr>
            </a:pPr>
            <a:r>
              <a:t>must match on 4 keys</a:t>
            </a:r>
          </a:p>
        </p:txBody>
      </p:sp>
      <p:sp>
        <p:nvSpPr>
          <p:cNvPr id="9" name="Rounded Rectangle 8"/>
          <p:cNvSpPr/>
          <p:nvPr/>
        </p:nvSpPr>
        <p:spPr>
          <a:xfrm>
            <a:off x="8686800" y="1920240"/>
            <a:ext cx="2834640" cy="1051560"/>
          </a:xfrm>
          <a:prstGeom prst="roundRect">
            <a:avLst/>
          </a:prstGeom>
          <a:solidFill>
            <a:srgbClr val="E2EFDA"/>
          </a:solidFill>
          <a:ln w="15875">
            <a:solidFill>
              <a:srgbClr val="4F8A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F3864"/>
                </a:solidFill>
                <a:latin typeface="Calibri"/>
              </a:defRPr>
            </a:pPr>
            <a:r>
              <a:t>= one row</a:t>
            </a:r>
            <a:br/>
            <a:r>
              <a:t>of our fact</a:t>
            </a:r>
          </a:p>
        </p:txBody>
      </p:sp>
      <p:cxnSp>
        <p:nvCxnSpPr>
          <p:cNvPr id="10" name="Connector 9"/>
          <p:cNvCxnSpPr/>
          <p:nvPr/>
        </p:nvCxnSpPr>
        <p:spPr>
          <a:xfrm>
            <a:off x="7772400" y="2450592"/>
            <a:ext cx="914400" cy="0"/>
          </a:xfrm>
          <a:prstGeom prst="line">
            <a:avLst/>
          </a:prstGeom>
          <a:ln w="22225">
            <a:solidFill>
              <a:srgbClr val="2E54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3429000"/>
            <a:ext cx="10881360" cy="2743200"/>
          </a:xfrm>
          <a:prstGeom prst="rect">
            <a:avLst/>
          </a:prstGeom>
          <a:noFill/>
        </p:spPr>
        <p:txBody>
          <a:bodyPr wrap="square" anchor="t">
            <a:spAutoFit/>
          </a:bodyPr>
          <a:lstStyle/>
          <a:p>
            <a:pPr algn="l">
              <a:spcBef>
                <a:spcPts val="0"/>
              </a:spcBef>
              <a:spcAft>
                <a:spcPts val="1000"/>
              </a:spcAft>
              <a:defRPr sz="1900" b="1" i="0">
                <a:solidFill>
                  <a:srgbClr val="1F3864"/>
                </a:solidFill>
                <a:latin typeface="Calibri"/>
              </a:defRPr>
            </a:pPr>
            <a:r>
              <a:t>The rule that matters</a:t>
            </a:r>
          </a:p>
          <a:p>
            <a:pPr>
              <a:spcBef>
                <a:spcPts val="0"/>
              </a:spcBef>
              <a:spcAft>
                <a:spcPts val="1600"/>
              </a:spcAft>
              <a:defRPr sz="1700" b="0" i="0">
                <a:solidFill>
                  <a:srgbClr val="1F3864"/>
                </a:solidFill>
                <a:latin typeface="Calibri"/>
              </a:defRPr>
            </a:pPr>
            <a:r>
              <a:t>An order line only appears if it has an invoice. No invoice means no tax to reconcile — so it doesn't belong on this report.</a:t>
            </a:r>
          </a:p>
          <a:p>
            <a:pPr>
              <a:spcBef>
                <a:spcPts val="0"/>
              </a:spcBef>
              <a:spcAft>
                <a:spcPts val="1000"/>
              </a:spcAft>
              <a:defRPr sz="1900" b="1" i="0">
                <a:solidFill>
                  <a:srgbClr val="1F3864"/>
                </a:solidFill>
                <a:latin typeface="Calibri"/>
              </a:defRPr>
            </a:pPr>
            <a:r>
              <a:t>Everything else is added gently</a:t>
            </a:r>
          </a:p>
          <a:p>
            <a:pPr>
              <a:spcBef>
                <a:spcPts val="0"/>
              </a:spcBef>
              <a:spcAft>
                <a:spcPts val="800"/>
              </a:spcAft>
              <a:defRPr sz="1700" b="0" i="0">
                <a:solidFill>
                  <a:srgbClr val="1F3864"/>
                </a:solidFill>
                <a:latin typeface="Calibri"/>
              </a:defRPr>
            </a:pPr>
            <a:r>
              <a:t>Plant and customer address are attached where we have them. If a plant is missing its master data, the invoice still shows up — with a blank instead of vanishing.</a:t>
            </a:r>
          </a:p>
          <a:p>
            <a:pPr>
              <a:spcBef>
                <a:spcPts val="0"/>
              </a:spcBef>
              <a:spcAft>
                <a:spcPts val="600"/>
              </a:spcAft>
              <a:defRPr sz="1600" b="1" i="0">
                <a:solidFill>
                  <a:srgbClr val="2E5496"/>
                </a:solidFill>
                <a:latin typeface="Calibri"/>
              </a:defRPr>
            </a:pPr>
            <a:r>
              <a:t>On a tax report, silently hiding a row would be the worst possible failure.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DESIGN PRINCIPLE</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Filters — where they live</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65960"/>
            <a:ext cx="5212080" cy="2103120"/>
          </a:xfrm>
          <a:prstGeom prst="roundRect">
            <a:avLst/>
          </a:prstGeom>
          <a:solidFill>
            <a:srgbClr val="E2EFDA"/>
          </a:solidFill>
          <a:ln w="15875">
            <a:solidFill>
              <a:srgbClr val="4F8A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F3864"/>
                </a:solidFill>
                <a:latin typeface="Calibri"/>
              </a:defRPr>
            </a:pPr>
            <a:r>
              <a:t>GOLD</a:t>
            </a:r>
            <a:br/>
            <a:br/>
            <a:r>
              <a:t>keeps everything</a:t>
            </a:r>
          </a:p>
        </p:txBody>
      </p:sp>
      <p:sp>
        <p:nvSpPr>
          <p:cNvPr id="6" name="Rounded Rectangle 5"/>
          <p:cNvSpPr/>
          <p:nvPr/>
        </p:nvSpPr>
        <p:spPr>
          <a:xfrm>
            <a:off x="6309360" y="1965960"/>
            <a:ext cx="5212080" cy="2103120"/>
          </a:xfrm>
          <a:prstGeom prst="roundRect">
            <a:avLst/>
          </a:prstGeom>
          <a:solidFill>
            <a:srgbClr val="FDF0DC"/>
          </a:solidFill>
          <a:ln w="15875">
            <a:solidFill>
              <a:srgbClr val="C17A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F3864"/>
                </a:solidFill>
                <a:latin typeface="Calibri"/>
              </a:defRPr>
            </a:pPr>
            <a:r>
              <a:t>POWER BI</a:t>
            </a:r>
            <a:br/>
            <a:br/>
            <a:r>
              <a:t>filters the view</a:t>
            </a:r>
          </a:p>
        </p:txBody>
      </p:sp>
      <p:cxnSp>
        <p:nvCxnSpPr>
          <p:cNvPr id="7" name="Connector 6"/>
          <p:cNvCxnSpPr/>
          <p:nvPr/>
        </p:nvCxnSpPr>
        <p:spPr>
          <a:xfrm>
            <a:off x="5852160" y="3017520"/>
            <a:ext cx="457200" cy="0"/>
          </a:xfrm>
          <a:prstGeom prst="line">
            <a:avLst/>
          </a:prstGeom>
          <a:ln w="22225">
            <a:solidFill>
              <a:srgbClr val="595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4343400"/>
            <a:ext cx="5212080" cy="2103120"/>
          </a:xfrm>
          <a:prstGeom prst="rect">
            <a:avLst/>
          </a:prstGeom>
          <a:noFill/>
        </p:spPr>
        <p:txBody>
          <a:bodyPr wrap="square" anchor="t">
            <a:spAutoFit/>
          </a:bodyPr>
          <a:lstStyle/>
          <a:p>
            <a:pPr algn="l">
              <a:spcBef>
                <a:spcPts val="0"/>
              </a:spcBef>
              <a:spcAft>
                <a:spcPts val="800"/>
              </a:spcAft>
              <a:defRPr sz="1500" b="0" i="0">
                <a:solidFill>
                  <a:srgbClr val="1F3864"/>
                </a:solidFill>
                <a:latin typeface="Calibri"/>
              </a:defRPr>
            </a:pPr>
            <a:r>
              <a:t>We exclude only what nobody would ever want — deleted records.</a:t>
            </a:r>
          </a:p>
          <a:p>
            <a:pPr>
              <a:spcBef>
                <a:spcPts val="0"/>
              </a:spcBef>
              <a:spcAft>
                <a:spcPts val="600"/>
              </a:spcAft>
              <a:defRPr sz="1500" b="1" i="0">
                <a:solidFill>
                  <a:srgbClr val="4F8A3E"/>
                </a:solidFill>
                <a:latin typeface="Calibri"/>
              </a:defRPr>
            </a:pPr>
            <a:r>
              <a:t>No date filter. No plant filter. No customer filter.</a:t>
            </a:r>
          </a:p>
        </p:txBody>
      </p:sp>
      <p:sp>
        <p:nvSpPr>
          <p:cNvPr id="9" name="TextBox 8"/>
          <p:cNvSpPr txBox="1"/>
          <p:nvPr/>
        </p:nvSpPr>
        <p:spPr>
          <a:xfrm>
            <a:off x="6309360" y="4343400"/>
            <a:ext cx="5212080" cy="2103120"/>
          </a:xfrm>
          <a:prstGeom prst="rect">
            <a:avLst/>
          </a:prstGeom>
          <a:noFill/>
        </p:spPr>
        <p:txBody>
          <a:bodyPr wrap="square" anchor="t">
            <a:spAutoFit/>
          </a:bodyPr>
          <a:lstStyle/>
          <a:p>
            <a:pPr algn="l">
              <a:spcBef>
                <a:spcPts val="0"/>
              </a:spcBef>
              <a:spcAft>
                <a:spcPts val="800"/>
              </a:spcAft>
              <a:defRPr sz="1500" b="0" i="0">
                <a:solidFill>
                  <a:srgbClr val="1F3864"/>
                </a:solidFill>
                <a:latin typeface="Calibri"/>
              </a:defRPr>
            </a:pPr>
            <a:r>
              <a:t>The month, the plant, the jurisdiction — all chosen on the page, by the user.</a:t>
            </a:r>
          </a:p>
          <a:p>
            <a:pPr>
              <a:spcBef>
                <a:spcPts val="0"/>
              </a:spcBef>
              <a:spcAft>
                <a:spcPts val="600"/>
              </a:spcAft>
              <a:defRPr sz="1500" b="1" i="0">
                <a:solidFill>
                  <a:srgbClr val="C17A1B"/>
                </a:solidFill>
                <a:latin typeface="Calibri"/>
              </a:defRPr>
            </a:pPr>
            <a:r>
              <a:t>Change the slicer, not the pipeline.</a:t>
            </a:r>
          </a:p>
        </p:txBody>
      </p:sp>
      <p:sp>
        <p:nvSpPr>
          <p:cNvPr id="10" name="TextBox 9"/>
          <p:cNvSpPr txBox="1"/>
          <p:nvPr/>
        </p:nvSpPr>
        <p:spPr>
          <a:xfrm>
            <a:off x="640080" y="5989320"/>
            <a:ext cx="10881360" cy="548640"/>
          </a:xfrm>
          <a:prstGeom prst="rect">
            <a:avLst/>
          </a:prstGeom>
          <a:noFill/>
        </p:spPr>
        <p:txBody>
          <a:bodyPr wrap="square" anchor="t">
            <a:spAutoFit/>
          </a:bodyPr>
          <a:lstStyle/>
          <a:p>
            <a:pPr algn="l">
              <a:spcBef>
                <a:spcPts val="0"/>
              </a:spcBef>
              <a:spcAft>
                <a:spcPts val="600"/>
              </a:spcAft>
              <a:defRPr sz="1500" b="0" i="1">
                <a:solidFill>
                  <a:srgbClr val="595F69"/>
                </a:solidFill>
                <a:latin typeface="Calibri"/>
              </a:defRPr>
            </a:pPr>
            <a:r>
              <a:t>Why: one clean dataset serves this report and the next one. Baking a filter into Gold would mean rebuilding it every time someone asks a new question.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THE ONE REAL CALCULATION</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Business logic 1 — Business Stream</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10881360" cy="457200"/>
          </a:xfrm>
          <a:prstGeom prst="rect">
            <a:avLst/>
          </a:prstGeom>
          <a:noFill/>
        </p:spPr>
        <p:txBody>
          <a:bodyPr wrap="square" anchor="t">
            <a:spAutoFit/>
          </a:bodyPr>
          <a:lstStyle/>
          <a:p>
            <a:pPr algn="l">
              <a:spcBef>
                <a:spcPts val="0"/>
              </a:spcBef>
              <a:spcAft>
                <a:spcPts val="600"/>
              </a:spcAft>
              <a:defRPr sz="1700" b="0" i="0">
                <a:solidFill>
                  <a:srgbClr val="1F3864"/>
                </a:solidFill>
                <a:latin typeface="Calibri"/>
              </a:defRPr>
            </a:pPr>
            <a:r>
              <a:t>Every invoice is classified as Oil &amp; Gas or Industrial &amp; Specialty Products. It isn't stored anywhere in JDE — we derive it.</a:t>
            </a:r>
          </a:p>
        </p:txBody>
      </p:sp>
      <p:sp>
        <p:nvSpPr>
          <p:cNvPr id="6" name="Rounded Rectangle 5"/>
          <p:cNvSpPr/>
          <p:nvPr/>
        </p:nvSpPr>
        <p:spPr>
          <a:xfrm>
            <a:off x="640080" y="2606040"/>
            <a:ext cx="2926080" cy="91440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F3864"/>
                </a:solidFill>
                <a:latin typeface="Calibri"/>
              </a:defRPr>
            </a:pPr>
            <a:r>
              <a:t>Customer's</a:t>
            </a:r>
            <a:br/>
            <a:r>
              <a:t>industry code</a:t>
            </a:r>
          </a:p>
          <a:p>
            <a:pPr algn="ctr">
              <a:defRPr sz="1000">
                <a:solidFill>
                  <a:srgbClr val="595F69"/>
                </a:solidFill>
                <a:latin typeface="Calibri"/>
              </a:defRPr>
            </a:pPr>
            <a:r>
              <a:t>from the address book</a:t>
            </a:r>
          </a:p>
        </p:txBody>
      </p:sp>
      <p:sp>
        <p:nvSpPr>
          <p:cNvPr id="7" name="Rounded Rectangle 6"/>
          <p:cNvSpPr/>
          <p:nvPr/>
        </p:nvSpPr>
        <p:spPr>
          <a:xfrm>
            <a:off x="3977639" y="2606040"/>
            <a:ext cx="2926080" cy="91440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F3864"/>
                </a:solidFill>
                <a:latin typeface="Calibri"/>
              </a:defRPr>
            </a:pPr>
            <a:r>
              <a:t>Plant's</a:t>
            </a:r>
            <a:br/>
            <a:r>
              <a:t>category code</a:t>
            </a:r>
          </a:p>
          <a:p>
            <a:pPr algn="ctr">
              <a:defRPr sz="1000">
                <a:solidFill>
                  <a:srgbClr val="595F69"/>
                </a:solidFill>
                <a:latin typeface="Calibri"/>
              </a:defRPr>
            </a:pPr>
            <a:r>
              <a:t>from the plant master</a:t>
            </a:r>
          </a:p>
        </p:txBody>
      </p:sp>
      <p:sp>
        <p:nvSpPr>
          <p:cNvPr id="8" name="Rounded Rectangle 7"/>
          <p:cNvSpPr/>
          <p:nvPr/>
        </p:nvSpPr>
        <p:spPr>
          <a:xfrm>
            <a:off x="8138160" y="2606040"/>
            <a:ext cx="3383280" cy="914400"/>
          </a:xfrm>
          <a:prstGeom prst="roundRect">
            <a:avLst/>
          </a:prstGeom>
          <a:solidFill>
            <a:srgbClr val="E2EFDA"/>
          </a:solidFill>
          <a:ln w="15875">
            <a:solidFill>
              <a:srgbClr val="4F8A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F3864"/>
                </a:solidFill>
                <a:latin typeface="Calibri"/>
              </a:defRPr>
            </a:pPr>
            <a:r>
              <a:t>Business Stream</a:t>
            </a:r>
          </a:p>
        </p:txBody>
      </p:sp>
      <p:cxnSp>
        <p:nvCxnSpPr>
          <p:cNvPr id="9" name="Connector 8"/>
          <p:cNvCxnSpPr/>
          <p:nvPr/>
        </p:nvCxnSpPr>
        <p:spPr>
          <a:xfrm>
            <a:off x="3566160" y="3063240"/>
            <a:ext cx="411479" cy="0"/>
          </a:xfrm>
          <a:prstGeom prst="line">
            <a:avLst/>
          </a:prstGeom>
          <a:ln w="22225">
            <a:solidFill>
              <a:srgbClr val="595F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03720" y="3063240"/>
            <a:ext cx="1234440" cy="0"/>
          </a:xfrm>
          <a:prstGeom prst="line">
            <a:avLst/>
          </a:prstGeom>
          <a:ln w="22225">
            <a:solidFill>
              <a:srgbClr val="2E54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3931920"/>
            <a:ext cx="3474720" cy="365760"/>
          </a:xfrm>
          <a:prstGeom prst="rect">
            <a:avLst/>
          </a:prstGeom>
          <a:noFill/>
        </p:spPr>
        <p:txBody>
          <a:bodyPr wrap="square" anchor="t">
            <a:spAutoFit/>
          </a:bodyPr>
          <a:lstStyle/>
          <a:p>
            <a:pPr algn="l">
              <a:spcBef>
                <a:spcPts val="0"/>
              </a:spcBef>
              <a:spcAft>
                <a:spcPts val="0"/>
              </a:spcAft>
              <a:defRPr sz="1100" b="1" i="0">
                <a:solidFill>
                  <a:srgbClr val="2E5496"/>
                </a:solidFill>
                <a:latin typeface="Calibri"/>
              </a:defRPr>
            </a:pPr>
            <a:r>
              <a:t>CUSTOMER INDUSTRY</a:t>
            </a:r>
          </a:p>
        </p:txBody>
      </p:sp>
      <p:sp>
        <p:nvSpPr>
          <p:cNvPr id="12" name="TextBox 11"/>
          <p:cNvSpPr txBox="1"/>
          <p:nvPr/>
        </p:nvSpPr>
        <p:spPr>
          <a:xfrm>
            <a:off x="4297680" y="3931920"/>
            <a:ext cx="3474720" cy="365760"/>
          </a:xfrm>
          <a:prstGeom prst="rect">
            <a:avLst/>
          </a:prstGeom>
          <a:noFill/>
        </p:spPr>
        <p:txBody>
          <a:bodyPr wrap="square" anchor="t">
            <a:spAutoFit/>
          </a:bodyPr>
          <a:lstStyle/>
          <a:p>
            <a:pPr algn="l">
              <a:spcBef>
                <a:spcPts val="0"/>
              </a:spcBef>
              <a:spcAft>
                <a:spcPts val="0"/>
              </a:spcAft>
              <a:defRPr sz="1100" b="1" i="0">
                <a:solidFill>
                  <a:srgbClr val="2E5496"/>
                </a:solidFill>
                <a:latin typeface="Calibri"/>
              </a:defRPr>
            </a:pPr>
            <a:r>
              <a:t>PLANT CATEGORY</a:t>
            </a:r>
          </a:p>
        </p:txBody>
      </p:sp>
      <p:sp>
        <p:nvSpPr>
          <p:cNvPr id="13" name="TextBox 12"/>
          <p:cNvSpPr txBox="1"/>
          <p:nvPr/>
        </p:nvSpPr>
        <p:spPr>
          <a:xfrm>
            <a:off x="7955279" y="3931920"/>
            <a:ext cx="3474720" cy="365760"/>
          </a:xfrm>
          <a:prstGeom prst="rect">
            <a:avLst/>
          </a:prstGeom>
          <a:noFill/>
        </p:spPr>
        <p:txBody>
          <a:bodyPr wrap="square" anchor="t">
            <a:spAutoFit/>
          </a:bodyPr>
          <a:lstStyle/>
          <a:p>
            <a:pPr algn="l">
              <a:spcBef>
                <a:spcPts val="0"/>
              </a:spcBef>
              <a:spcAft>
                <a:spcPts val="0"/>
              </a:spcAft>
              <a:defRPr sz="1100" b="1" i="0">
                <a:solidFill>
                  <a:srgbClr val="2E5496"/>
                </a:solidFill>
                <a:latin typeface="Calibri"/>
              </a:defRPr>
            </a:pPr>
            <a:r>
              <a:t>RESULT</a:t>
            </a:r>
          </a:p>
        </p:txBody>
      </p:sp>
      <p:sp>
        <p:nvSpPr>
          <p:cNvPr id="14" name="Rectangle 13"/>
          <p:cNvSpPr/>
          <p:nvPr/>
        </p:nvSpPr>
        <p:spPr>
          <a:xfrm>
            <a:off x="640080" y="4343400"/>
            <a:ext cx="10881360" cy="475488"/>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416552"/>
            <a:ext cx="3474720" cy="36576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F  (oil &amp; gas)</a:t>
            </a:r>
          </a:p>
        </p:txBody>
      </p:sp>
      <p:sp>
        <p:nvSpPr>
          <p:cNvPr id="16" name="TextBox 15"/>
          <p:cNvSpPr txBox="1"/>
          <p:nvPr/>
        </p:nvSpPr>
        <p:spPr>
          <a:xfrm>
            <a:off x="4434840" y="4416552"/>
            <a:ext cx="3474720" cy="36576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ENG or SHR</a:t>
            </a:r>
          </a:p>
        </p:txBody>
      </p:sp>
      <p:sp>
        <p:nvSpPr>
          <p:cNvPr id="17" name="TextBox 16"/>
          <p:cNvSpPr txBox="1"/>
          <p:nvPr/>
        </p:nvSpPr>
        <p:spPr>
          <a:xfrm>
            <a:off x="8092440" y="4416552"/>
            <a:ext cx="3474720" cy="365760"/>
          </a:xfrm>
          <a:prstGeom prst="rect">
            <a:avLst/>
          </a:prstGeom>
          <a:noFill/>
        </p:spPr>
        <p:txBody>
          <a:bodyPr wrap="square" anchor="t">
            <a:spAutoFit/>
          </a:bodyPr>
          <a:lstStyle/>
          <a:p>
            <a:pPr algn="l">
              <a:spcBef>
                <a:spcPts val="0"/>
              </a:spcBef>
              <a:spcAft>
                <a:spcPts val="0"/>
              </a:spcAft>
              <a:defRPr sz="1400" b="1" i="0">
                <a:solidFill>
                  <a:srgbClr val="1F3864"/>
                </a:solidFill>
                <a:latin typeface="Calibri"/>
              </a:defRPr>
            </a:pPr>
            <a:r>
              <a:t>O&amp;G</a:t>
            </a:r>
          </a:p>
        </p:txBody>
      </p:sp>
      <p:sp>
        <p:nvSpPr>
          <p:cNvPr id="18" name="Rectangle 17"/>
          <p:cNvSpPr/>
          <p:nvPr/>
        </p:nvSpPr>
        <p:spPr>
          <a:xfrm>
            <a:off x="640080" y="4910328"/>
            <a:ext cx="10881360" cy="475488"/>
          </a:xfrm>
          <a:prstGeom prst="rect">
            <a:avLst/>
          </a:prstGeom>
          <a:solidFill>
            <a:srgbClr val="DA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983480"/>
            <a:ext cx="3474720" cy="36576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anything else</a:t>
            </a:r>
          </a:p>
        </p:txBody>
      </p:sp>
      <p:sp>
        <p:nvSpPr>
          <p:cNvPr id="20" name="TextBox 19"/>
          <p:cNvSpPr txBox="1"/>
          <p:nvPr/>
        </p:nvSpPr>
        <p:spPr>
          <a:xfrm>
            <a:off x="4434840" y="4983480"/>
            <a:ext cx="3474720" cy="36576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ENG or SHR</a:t>
            </a:r>
          </a:p>
        </p:txBody>
      </p:sp>
      <p:sp>
        <p:nvSpPr>
          <p:cNvPr id="21" name="TextBox 20"/>
          <p:cNvSpPr txBox="1"/>
          <p:nvPr/>
        </p:nvSpPr>
        <p:spPr>
          <a:xfrm>
            <a:off x="8092440" y="4983480"/>
            <a:ext cx="3474720" cy="365760"/>
          </a:xfrm>
          <a:prstGeom prst="rect">
            <a:avLst/>
          </a:prstGeom>
          <a:noFill/>
        </p:spPr>
        <p:txBody>
          <a:bodyPr wrap="square" anchor="t">
            <a:spAutoFit/>
          </a:bodyPr>
          <a:lstStyle/>
          <a:p>
            <a:pPr algn="l">
              <a:spcBef>
                <a:spcPts val="0"/>
              </a:spcBef>
              <a:spcAft>
                <a:spcPts val="0"/>
              </a:spcAft>
              <a:defRPr sz="1400" b="1" i="0">
                <a:solidFill>
                  <a:srgbClr val="1F3864"/>
                </a:solidFill>
                <a:latin typeface="Calibri"/>
              </a:defRPr>
            </a:pPr>
            <a:r>
              <a:t>ISP</a:t>
            </a:r>
          </a:p>
        </p:txBody>
      </p:sp>
      <p:sp>
        <p:nvSpPr>
          <p:cNvPr id="22" name="Rectangle 21"/>
          <p:cNvSpPr/>
          <p:nvPr/>
        </p:nvSpPr>
        <p:spPr>
          <a:xfrm>
            <a:off x="640080" y="5477256"/>
            <a:ext cx="10881360" cy="475488"/>
          </a:xfrm>
          <a:prstGeom prst="rect">
            <a:avLst/>
          </a:prstGeom>
          <a:solidFill>
            <a:srgbClr val="DA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550408"/>
            <a:ext cx="3474720" cy="36576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any</a:t>
            </a:r>
          </a:p>
        </p:txBody>
      </p:sp>
      <p:sp>
        <p:nvSpPr>
          <p:cNvPr id="24" name="TextBox 23"/>
          <p:cNvSpPr txBox="1"/>
          <p:nvPr/>
        </p:nvSpPr>
        <p:spPr>
          <a:xfrm>
            <a:off x="4434840" y="5550408"/>
            <a:ext cx="3474720" cy="36576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any other plant</a:t>
            </a:r>
          </a:p>
        </p:txBody>
      </p:sp>
      <p:sp>
        <p:nvSpPr>
          <p:cNvPr id="25" name="TextBox 24"/>
          <p:cNvSpPr txBox="1"/>
          <p:nvPr/>
        </p:nvSpPr>
        <p:spPr>
          <a:xfrm>
            <a:off x="8092440" y="5550408"/>
            <a:ext cx="3474720" cy="365760"/>
          </a:xfrm>
          <a:prstGeom prst="rect">
            <a:avLst/>
          </a:prstGeom>
          <a:noFill/>
        </p:spPr>
        <p:txBody>
          <a:bodyPr wrap="square" anchor="t">
            <a:spAutoFit/>
          </a:bodyPr>
          <a:lstStyle/>
          <a:p>
            <a:pPr algn="l">
              <a:spcBef>
                <a:spcPts val="0"/>
              </a:spcBef>
              <a:spcAft>
                <a:spcPts val="0"/>
              </a:spcAft>
              <a:defRPr sz="1400" b="1" i="0">
                <a:solidFill>
                  <a:srgbClr val="1F3864"/>
                </a:solidFill>
                <a:latin typeface="Calibri"/>
              </a:defRPr>
            </a:pPr>
            <a:r>
              <a:t>ISP</a:t>
            </a:r>
          </a:p>
        </p:txBody>
      </p:sp>
      <p:sp>
        <p:nvSpPr>
          <p:cNvPr id="26" name="TextBox 25"/>
          <p:cNvSpPr txBox="1"/>
          <p:nvPr/>
        </p:nvSpPr>
        <p:spPr>
          <a:xfrm>
            <a:off x="640080" y="6172200"/>
            <a:ext cx="10881360" cy="457200"/>
          </a:xfrm>
          <a:prstGeom prst="rect">
            <a:avLst/>
          </a:prstGeom>
          <a:noFill/>
        </p:spPr>
        <p:txBody>
          <a:bodyPr wrap="square" anchor="t">
            <a:spAutoFit/>
          </a:bodyPr>
          <a:lstStyle/>
          <a:p>
            <a:pPr algn="l">
              <a:spcBef>
                <a:spcPts val="0"/>
              </a:spcBef>
              <a:spcAft>
                <a:spcPts val="600"/>
              </a:spcAft>
              <a:defRPr sz="1500" b="0" i="1">
                <a:solidFill>
                  <a:srgbClr val="595F69"/>
                </a:solidFill>
                <a:latin typeface="Calibri"/>
              </a:defRPr>
            </a:pPr>
            <a:r>
              <a:t>We reproduce the old Hubble rule exactly — branch for branch — so the answer is provably the same.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MATCHING THE TWO SYSTEMS</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Business logic 2 — the Avalara key</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10881360" cy="457200"/>
          </a:xfrm>
          <a:prstGeom prst="rect">
            <a:avLst/>
          </a:prstGeom>
          <a:noFill/>
        </p:spPr>
        <p:txBody>
          <a:bodyPr wrap="square" anchor="t">
            <a:spAutoFit/>
          </a:bodyPr>
          <a:lstStyle/>
          <a:p>
            <a:pPr algn="l">
              <a:spcBef>
                <a:spcPts val="0"/>
              </a:spcBef>
              <a:spcAft>
                <a:spcPts val="600"/>
              </a:spcAft>
              <a:defRPr sz="1700" b="0" i="0">
                <a:solidFill>
                  <a:srgbClr val="1F3864"/>
                </a:solidFill>
                <a:latin typeface="Calibri"/>
              </a:defRPr>
            </a:pPr>
            <a:r>
              <a:t>To compare JDE against Avalara, both sides need the same key. We build it by joining three fields:</a:t>
            </a:r>
          </a:p>
        </p:txBody>
      </p:sp>
      <p:sp>
        <p:nvSpPr>
          <p:cNvPr id="6" name="TextBox 5"/>
          <p:cNvSpPr txBox="1"/>
          <p:nvPr/>
        </p:nvSpPr>
        <p:spPr>
          <a:xfrm>
            <a:off x="640080" y="2606040"/>
            <a:ext cx="2926080" cy="320040"/>
          </a:xfrm>
          <a:prstGeom prst="rect">
            <a:avLst/>
          </a:prstGeom>
          <a:noFill/>
        </p:spPr>
        <p:txBody>
          <a:bodyPr wrap="square" anchor="t">
            <a:spAutoFit/>
          </a:bodyPr>
          <a:lstStyle/>
          <a:p>
            <a:pPr algn="ctr">
              <a:spcBef>
                <a:spcPts val="0"/>
              </a:spcBef>
              <a:spcAft>
                <a:spcPts val="0"/>
              </a:spcAft>
              <a:defRPr sz="1100" b="1" i="0">
                <a:solidFill>
                  <a:srgbClr val="2E5496"/>
                </a:solidFill>
                <a:latin typeface="Calibri"/>
              </a:defRPr>
            </a:pPr>
            <a:r>
              <a:t>INVOICE</a:t>
            </a:r>
          </a:p>
        </p:txBody>
      </p:sp>
      <p:sp>
        <p:nvSpPr>
          <p:cNvPr id="7" name="Rounded Rectangle 6"/>
          <p:cNvSpPr/>
          <p:nvPr/>
        </p:nvSpPr>
        <p:spPr>
          <a:xfrm>
            <a:off x="640080" y="2926080"/>
            <a:ext cx="2926080" cy="77724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F3864"/>
                </a:solidFill>
                <a:latin typeface="Calibri"/>
              </a:defRPr>
            </a:pPr>
            <a:r>
              <a:t>11843107</a:t>
            </a:r>
          </a:p>
        </p:txBody>
      </p:sp>
      <p:sp>
        <p:nvSpPr>
          <p:cNvPr id="8" name="TextBox 7"/>
          <p:cNvSpPr txBox="1"/>
          <p:nvPr/>
        </p:nvSpPr>
        <p:spPr>
          <a:xfrm>
            <a:off x="3931920" y="2606040"/>
            <a:ext cx="1463040" cy="320040"/>
          </a:xfrm>
          <a:prstGeom prst="rect">
            <a:avLst/>
          </a:prstGeom>
          <a:noFill/>
        </p:spPr>
        <p:txBody>
          <a:bodyPr wrap="square" anchor="t">
            <a:spAutoFit/>
          </a:bodyPr>
          <a:lstStyle/>
          <a:p>
            <a:pPr algn="ctr">
              <a:spcBef>
                <a:spcPts val="0"/>
              </a:spcBef>
              <a:spcAft>
                <a:spcPts val="0"/>
              </a:spcAft>
              <a:defRPr sz="1100" b="1" i="0">
                <a:solidFill>
                  <a:srgbClr val="2E5496"/>
                </a:solidFill>
                <a:latin typeface="Calibri"/>
              </a:defRPr>
            </a:pPr>
            <a:r>
              <a:t>DOC TYPE</a:t>
            </a:r>
          </a:p>
        </p:txBody>
      </p:sp>
      <p:sp>
        <p:nvSpPr>
          <p:cNvPr id="9" name="Rounded Rectangle 8"/>
          <p:cNvSpPr/>
          <p:nvPr/>
        </p:nvSpPr>
        <p:spPr>
          <a:xfrm>
            <a:off x="3931920" y="2926080"/>
            <a:ext cx="1463040" cy="77724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F3864"/>
                </a:solidFill>
                <a:latin typeface="Calibri"/>
              </a:defRPr>
            </a:pPr>
            <a:r>
              <a:t>RI</a:t>
            </a:r>
          </a:p>
        </p:txBody>
      </p:sp>
      <p:sp>
        <p:nvSpPr>
          <p:cNvPr id="10" name="TextBox 9"/>
          <p:cNvSpPr txBox="1"/>
          <p:nvPr/>
        </p:nvSpPr>
        <p:spPr>
          <a:xfrm>
            <a:off x="5760720" y="2606040"/>
            <a:ext cx="1828800" cy="320040"/>
          </a:xfrm>
          <a:prstGeom prst="rect">
            <a:avLst/>
          </a:prstGeom>
          <a:noFill/>
        </p:spPr>
        <p:txBody>
          <a:bodyPr wrap="square" anchor="t">
            <a:spAutoFit/>
          </a:bodyPr>
          <a:lstStyle/>
          <a:p>
            <a:pPr algn="ctr">
              <a:spcBef>
                <a:spcPts val="0"/>
              </a:spcBef>
              <a:spcAft>
                <a:spcPts val="0"/>
              </a:spcAft>
              <a:defRPr sz="1100" b="1" i="0">
                <a:solidFill>
                  <a:srgbClr val="2E5496"/>
                </a:solidFill>
                <a:latin typeface="Calibri"/>
              </a:defRPr>
            </a:pPr>
            <a:r>
              <a:t>COMPANY</a:t>
            </a:r>
          </a:p>
        </p:txBody>
      </p:sp>
      <p:sp>
        <p:nvSpPr>
          <p:cNvPr id="11" name="Rounded Rectangle 10"/>
          <p:cNvSpPr/>
          <p:nvPr/>
        </p:nvSpPr>
        <p:spPr>
          <a:xfrm>
            <a:off x="5760720" y="2926080"/>
            <a:ext cx="1828800" cy="77724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F3864"/>
                </a:solidFill>
                <a:latin typeface="Calibri"/>
              </a:defRPr>
            </a:pPr>
            <a:r>
              <a:t>00400</a:t>
            </a:r>
          </a:p>
        </p:txBody>
      </p:sp>
      <p:sp>
        <p:nvSpPr>
          <p:cNvPr id="12" name="TextBox 11"/>
          <p:cNvSpPr txBox="1"/>
          <p:nvPr/>
        </p:nvSpPr>
        <p:spPr>
          <a:xfrm>
            <a:off x="3657600" y="3035808"/>
            <a:ext cx="320040" cy="457200"/>
          </a:xfrm>
          <a:prstGeom prst="rect">
            <a:avLst/>
          </a:prstGeom>
          <a:noFill/>
        </p:spPr>
        <p:txBody>
          <a:bodyPr wrap="square" anchor="t">
            <a:spAutoFit/>
          </a:bodyPr>
          <a:lstStyle/>
          <a:p>
            <a:pPr algn="ctr">
              <a:spcBef>
                <a:spcPts val="0"/>
              </a:spcBef>
              <a:spcAft>
                <a:spcPts val="600"/>
              </a:spcAft>
              <a:defRPr sz="2200" b="1" i="0">
                <a:solidFill>
                  <a:srgbClr val="595F69"/>
                </a:solidFill>
                <a:latin typeface="Calibri"/>
              </a:defRPr>
            </a:pPr>
            <a:r>
              <a:t>+</a:t>
            </a:r>
          </a:p>
        </p:txBody>
      </p:sp>
      <p:sp>
        <p:nvSpPr>
          <p:cNvPr id="13" name="TextBox 12"/>
          <p:cNvSpPr txBox="1"/>
          <p:nvPr/>
        </p:nvSpPr>
        <p:spPr>
          <a:xfrm>
            <a:off x="5532120" y="3035808"/>
            <a:ext cx="320040" cy="457200"/>
          </a:xfrm>
          <a:prstGeom prst="rect">
            <a:avLst/>
          </a:prstGeom>
          <a:noFill/>
        </p:spPr>
        <p:txBody>
          <a:bodyPr wrap="square" anchor="t">
            <a:spAutoFit/>
          </a:bodyPr>
          <a:lstStyle/>
          <a:p>
            <a:pPr algn="ctr">
              <a:spcBef>
                <a:spcPts val="0"/>
              </a:spcBef>
              <a:spcAft>
                <a:spcPts val="600"/>
              </a:spcAft>
              <a:defRPr sz="2200" b="1" i="0">
                <a:solidFill>
                  <a:srgbClr val="595F69"/>
                </a:solidFill>
                <a:latin typeface="Calibri"/>
              </a:defRPr>
            </a:pPr>
            <a:r>
              <a:t>+</a:t>
            </a:r>
          </a:p>
        </p:txBody>
      </p:sp>
      <p:cxnSp>
        <p:nvCxnSpPr>
          <p:cNvPr id="14" name="Connector 13"/>
          <p:cNvCxnSpPr/>
          <p:nvPr/>
        </p:nvCxnSpPr>
        <p:spPr>
          <a:xfrm>
            <a:off x="7726679" y="3310128"/>
            <a:ext cx="594361" cy="0"/>
          </a:xfrm>
          <a:prstGeom prst="line">
            <a:avLst/>
          </a:prstGeom>
          <a:ln w="22225">
            <a:solidFill>
              <a:srgbClr val="2E54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321040" y="2926080"/>
            <a:ext cx="3200400" cy="777240"/>
          </a:xfrm>
          <a:prstGeom prst="roundRect">
            <a:avLst/>
          </a:prstGeom>
          <a:solidFill>
            <a:srgbClr val="E2EFDA"/>
          </a:solidFill>
          <a:ln w="15875">
            <a:solidFill>
              <a:srgbClr val="4F8A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F3864"/>
                </a:solidFill>
                <a:latin typeface="Calibri"/>
              </a:defRPr>
            </a:pPr>
            <a:r>
              <a:t>11843107RI00400</a:t>
            </a:r>
          </a:p>
        </p:txBody>
      </p:sp>
      <p:sp>
        <p:nvSpPr>
          <p:cNvPr id="16" name="TextBox 15"/>
          <p:cNvSpPr txBox="1"/>
          <p:nvPr/>
        </p:nvSpPr>
        <p:spPr>
          <a:xfrm>
            <a:off x="640080" y="4160520"/>
            <a:ext cx="10881360" cy="2194560"/>
          </a:xfrm>
          <a:prstGeom prst="rect">
            <a:avLst/>
          </a:prstGeom>
          <a:noFill/>
        </p:spPr>
        <p:txBody>
          <a:bodyPr wrap="square" anchor="t">
            <a:spAutoFit/>
          </a:bodyPr>
          <a:lstStyle/>
          <a:p>
            <a:pPr algn="l">
              <a:spcBef>
                <a:spcPts val="0"/>
              </a:spcBef>
              <a:spcAft>
                <a:spcPts val="800"/>
              </a:spcAft>
              <a:defRPr sz="1800" b="1" i="0">
                <a:solidFill>
                  <a:srgbClr val="1F3864"/>
                </a:solidFill>
                <a:latin typeface="Calibri"/>
              </a:defRPr>
            </a:pPr>
            <a:r>
              <a:t>Small detail, big consequence</a:t>
            </a:r>
          </a:p>
          <a:p>
            <a:pPr>
              <a:spcBef>
                <a:spcPts val="0"/>
              </a:spcBef>
              <a:spcAft>
                <a:spcPts val="1200"/>
              </a:spcAft>
              <a:defRPr sz="1600" b="0" i="0">
                <a:solidFill>
                  <a:srgbClr val="1F3864"/>
                </a:solidFill>
                <a:latin typeface="Calibri"/>
              </a:defRPr>
            </a:pPr>
            <a:r>
              <a:t>The company code has to stay "00400" — not 400. Drop the leading zeros and the key never matches. The same care applies to the invoice number.</a:t>
            </a:r>
          </a:p>
        </p:txBody>
      </p:sp>
      <p:sp>
        <p:nvSpPr>
          <p:cNvPr id="17" name="Rounded Rectangle 16"/>
          <p:cNvSpPr/>
          <p:nvPr/>
        </p:nvSpPr>
        <p:spPr>
          <a:xfrm>
            <a:off x="640080" y="5349240"/>
            <a:ext cx="10881360" cy="868680"/>
          </a:xfrm>
          <a:prstGeom prst="roundRect">
            <a:avLst/>
          </a:prstGeom>
          <a:solidFill>
            <a:srgbClr val="FDF0DC"/>
          </a:solidFill>
          <a:ln>
            <a:solidFill>
              <a:srgbClr val="C17A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C17A1B"/>
                </a:solidFill>
                <a:latin typeface="Calibri"/>
              </a:defRPr>
            </a:pPr>
            <a:r>
              <a:t>Open item: the specification never actually defines this formula — we reverse-engineered it from the Hubble query. It needs confirmation from the Tax team.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REFRESH</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How it stays current</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03120"/>
            <a:ext cx="2651760" cy="1097280"/>
          </a:xfrm>
          <a:prstGeom prst="roundRect">
            <a:avLst/>
          </a:prstGeom>
          <a:solidFill>
            <a:srgbClr val="EEEFF1"/>
          </a:solidFill>
          <a:ln w="15875">
            <a:solidFill>
              <a:srgbClr val="595F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F3864"/>
                </a:solidFill>
                <a:latin typeface="Calibri"/>
              </a:defRPr>
            </a:pPr>
            <a:r>
              <a:t>Something</a:t>
            </a:r>
            <a:br/>
            <a:r>
              <a:t>changes in JDE</a:t>
            </a:r>
          </a:p>
        </p:txBody>
      </p:sp>
      <p:sp>
        <p:nvSpPr>
          <p:cNvPr id="6" name="Rounded Rectangle 5"/>
          <p:cNvSpPr/>
          <p:nvPr/>
        </p:nvSpPr>
        <p:spPr>
          <a:xfrm>
            <a:off x="3931920" y="2103120"/>
            <a:ext cx="2651760" cy="109728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F3864"/>
                </a:solidFill>
                <a:latin typeface="Calibri"/>
              </a:defRPr>
            </a:pPr>
            <a:r>
              <a:t>We notice</a:t>
            </a:r>
            <a:br/>
            <a:r>
              <a:t>within 30s</a:t>
            </a:r>
          </a:p>
        </p:txBody>
      </p:sp>
      <p:sp>
        <p:nvSpPr>
          <p:cNvPr id="7" name="Rounded Rectangle 6"/>
          <p:cNvSpPr/>
          <p:nvPr/>
        </p:nvSpPr>
        <p:spPr>
          <a:xfrm>
            <a:off x="7223760" y="2103120"/>
            <a:ext cx="2651760" cy="109728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F3864"/>
                </a:solidFill>
                <a:latin typeface="Calibri"/>
              </a:defRPr>
            </a:pPr>
            <a:r>
              <a:t>We rebuild</a:t>
            </a:r>
            <a:br/>
            <a:r>
              <a:t>that invoice</a:t>
            </a:r>
          </a:p>
        </p:txBody>
      </p:sp>
      <p:sp>
        <p:nvSpPr>
          <p:cNvPr id="8" name="Rounded Rectangle 7"/>
          <p:cNvSpPr/>
          <p:nvPr/>
        </p:nvSpPr>
        <p:spPr>
          <a:xfrm>
            <a:off x="10058400" y="2103120"/>
            <a:ext cx="1463040" cy="1097280"/>
          </a:xfrm>
          <a:prstGeom prst="roundRect">
            <a:avLst/>
          </a:prstGeom>
          <a:solidFill>
            <a:srgbClr val="E2EFDA"/>
          </a:solidFill>
          <a:ln w="15875">
            <a:solidFill>
              <a:srgbClr val="4F8A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F3864"/>
                </a:solidFill>
                <a:latin typeface="Calibri"/>
              </a:defRPr>
            </a:pPr>
            <a:r>
              <a:t>Report</a:t>
            </a:r>
            <a:br/>
            <a:r>
              <a:t>is right</a:t>
            </a:r>
          </a:p>
        </p:txBody>
      </p:sp>
      <p:cxnSp>
        <p:nvCxnSpPr>
          <p:cNvPr id="9" name="Connector 8"/>
          <p:cNvCxnSpPr/>
          <p:nvPr/>
        </p:nvCxnSpPr>
        <p:spPr>
          <a:xfrm>
            <a:off x="3291840" y="2651760"/>
            <a:ext cx="640080" cy="0"/>
          </a:xfrm>
          <a:prstGeom prst="line">
            <a:avLst/>
          </a:prstGeom>
          <a:ln w="22225">
            <a:solidFill>
              <a:srgbClr val="2E54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83680" y="2651760"/>
            <a:ext cx="640080" cy="0"/>
          </a:xfrm>
          <a:prstGeom prst="line">
            <a:avLst/>
          </a:prstGeom>
          <a:ln w="22225">
            <a:solidFill>
              <a:srgbClr val="2E54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875520" y="2651760"/>
            <a:ext cx="182880" cy="0"/>
          </a:xfrm>
          <a:prstGeom prst="line">
            <a:avLst/>
          </a:prstGeom>
          <a:ln w="22225">
            <a:solidFill>
              <a:srgbClr val="2E54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611880"/>
            <a:ext cx="10881360" cy="2743200"/>
          </a:xfrm>
          <a:prstGeom prst="rect">
            <a:avLst/>
          </a:prstGeom>
          <a:noFill/>
        </p:spPr>
        <p:txBody>
          <a:bodyPr wrap="square" anchor="t">
            <a:spAutoFit/>
          </a:bodyPr>
          <a:lstStyle/>
          <a:p>
            <a:pPr algn="l">
              <a:spcBef>
                <a:spcPts val="0"/>
              </a:spcBef>
              <a:spcAft>
                <a:spcPts val="1000"/>
              </a:spcAft>
              <a:defRPr sz="1900" b="1" i="0">
                <a:solidFill>
                  <a:srgbClr val="1F3864"/>
                </a:solidFill>
                <a:latin typeface="Calibri"/>
              </a:defRPr>
            </a:pPr>
            <a:r>
              <a:t>We don't patch rows. We rebuild them.</a:t>
            </a:r>
          </a:p>
          <a:p>
            <a:pPr>
              <a:spcBef>
                <a:spcPts val="0"/>
              </a:spcBef>
              <a:spcAft>
                <a:spcPts val="1200"/>
              </a:spcAft>
              <a:defRPr sz="1600" b="0" i="0">
                <a:solidFill>
                  <a:srgbClr val="1F3864"/>
                </a:solidFill>
                <a:latin typeface="Calibri"/>
              </a:defRPr>
            </a:pPr>
            <a:r>
              <a:t>When an invoice changes, we throw away every row we had for it and recalculate from scratch. It sounds wasteful — it isn't, because we only ever touch the one invoice that changed.</a:t>
            </a:r>
          </a:p>
          <a:p>
            <a:pPr>
              <a:spcBef>
                <a:spcPts val="0"/>
              </a:spcBef>
              <a:spcAft>
                <a:spcPts val="1200"/>
              </a:spcAft>
              <a:defRPr sz="1600" b="0" i="0">
                <a:solidFill>
                  <a:srgbClr val="1F3864"/>
                </a:solidFill>
                <a:latin typeface="Calibri"/>
              </a:defRPr>
            </a:pPr>
            <a:r>
              <a:t>The payoff: it's impossible for the report to slowly drift out of step with JDE. Add, change, delete — all handled the same way. If a row is ever wrong, touching the source fixes it.</a:t>
            </a:r>
          </a:p>
          <a:p>
            <a:pPr>
              <a:spcBef>
                <a:spcPts val="0"/>
              </a:spcBef>
              <a:spcAft>
                <a:spcPts val="600"/>
              </a:spcAft>
              <a:defRPr sz="1700" b="1" i="0">
                <a:solidFill>
                  <a:srgbClr val="4F8A3E"/>
                </a:solidFill>
                <a:latin typeface="Calibri"/>
              </a:defRPr>
            </a:pPr>
            <a:r>
              <a:t>Target: 5 minutes from JDE to report.  ·  Actual: about 30 seconds.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WHAT THE USER SEES</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The report</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20240"/>
            <a:ext cx="3291840" cy="77724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F3864"/>
                </a:solidFill>
                <a:latin typeface="Calibri"/>
              </a:defRPr>
            </a:pPr>
            <a:r>
              <a:t>Tax Summary</a:t>
            </a:r>
          </a:p>
        </p:txBody>
      </p:sp>
      <p:sp>
        <p:nvSpPr>
          <p:cNvPr id="6" name="TextBox 5"/>
          <p:cNvSpPr txBox="1"/>
          <p:nvPr/>
        </p:nvSpPr>
        <p:spPr>
          <a:xfrm>
            <a:off x="777240" y="2880360"/>
            <a:ext cx="3017520" cy="1828800"/>
          </a:xfrm>
          <a:prstGeom prst="rect">
            <a:avLst/>
          </a:prstGeom>
          <a:noFill/>
        </p:spPr>
        <p:txBody>
          <a:bodyPr wrap="square" anchor="t">
            <a:spAutoFit/>
          </a:bodyPr>
          <a:lstStyle/>
          <a:p>
            <a:pPr algn="l">
              <a:spcBef>
                <a:spcPts val="0"/>
              </a:spcBef>
              <a:spcAft>
                <a:spcPts val="600"/>
              </a:spcAft>
              <a:defRPr sz="1500" b="0" i="0">
                <a:solidFill>
                  <a:srgbClr val="595F69"/>
                </a:solidFill>
                <a:latin typeface="Calibri"/>
              </a:defRPr>
            </a:pPr>
            <a:r>
              <a:t>The headline numbers.</a:t>
            </a:r>
            <a:br/>
            <a:r>
              <a:t>Taxable, non-taxable, tax,</a:t>
            </a:r>
            <a:br/>
            <a:r>
              <a:t>gross — and the effective</a:t>
            </a:r>
            <a:br/>
            <a:r>
              <a:t>tax rate.</a:t>
            </a:r>
          </a:p>
        </p:txBody>
      </p:sp>
      <p:sp>
        <p:nvSpPr>
          <p:cNvPr id="7" name="Rounded Rectangle 6"/>
          <p:cNvSpPr/>
          <p:nvPr/>
        </p:nvSpPr>
        <p:spPr>
          <a:xfrm>
            <a:off x="4206240" y="1920240"/>
            <a:ext cx="3291840" cy="77724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F3864"/>
                </a:solidFill>
                <a:latin typeface="Calibri"/>
              </a:defRPr>
            </a:pPr>
            <a:r>
              <a:t>Reconciliation Detail</a:t>
            </a:r>
          </a:p>
        </p:txBody>
      </p:sp>
      <p:sp>
        <p:nvSpPr>
          <p:cNvPr id="8" name="TextBox 7"/>
          <p:cNvSpPr txBox="1"/>
          <p:nvPr/>
        </p:nvSpPr>
        <p:spPr>
          <a:xfrm>
            <a:off x="4343400" y="2880360"/>
            <a:ext cx="3017520" cy="1828800"/>
          </a:xfrm>
          <a:prstGeom prst="rect">
            <a:avLst/>
          </a:prstGeom>
          <a:noFill/>
        </p:spPr>
        <p:txBody>
          <a:bodyPr wrap="square" anchor="t">
            <a:spAutoFit/>
          </a:bodyPr>
          <a:lstStyle/>
          <a:p>
            <a:pPr algn="l">
              <a:spcBef>
                <a:spcPts val="0"/>
              </a:spcBef>
              <a:spcAft>
                <a:spcPts val="600"/>
              </a:spcAft>
              <a:defRPr sz="1500" b="0" i="0">
                <a:solidFill>
                  <a:srgbClr val="595F69"/>
                </a:solidFill>
                <a:latin typeface="Calibri"/>
              </a:defRPr>
            </a:pPr>
            <a:r>
              <a:t>Invoice by invoice.</a:t>
            </a:r>
            <a:br/>
            <a:r>
              <a:t>Where you go when</a:t>
            </a:r>
            <a:br/>
            <a:r>
              <a:t>something doesn't match.</a:t>
            </a:r>
          </a:p>
        </p:txBody>
      </p:sp>
      <p:sp>
        <p:nvSpPr>
          <p:cNvPr id="9" name="Rounded Rectangle 8"/>
          <p:cNvSpPr/>
          <p:nvPr/>
        </p:nvSpPr>
        <p:spPr>
          <a:xfrm>
            <a:off x="7772400" y="1920240"/>
            <a:ext cx="3291840" cy="777240"/>
          </a:xfrm>
          <a:prstGeom prst="roundRect">
            <a:avLst/>
          </a:prstGeom>
          <a:solidFill>
            <a:srgbClr val="DAE5F5"/>
          </a:solidFill>
          <a:ln w="15875">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F3864"/>
                </a:solidFill>
                <a:latin typeface="Calibri"/>
              </a:defRPr>
            </a:pPr>
            <a:r>
              <a:t>Tax by Jurisdiction</a:t>
            </a:r>
          </a:p>
        </p:txBody>
      </p:sp>
      <p:sp>
        <p:nvSpPr>
          <p:cNvPr id="10" name="TextBox 9"/>
          <p:cNvSpPr txBox="1"/>
          <p:nvPr/>
        </p:nvSpPr>
        <p:spPr>
          <a:xfrm>
            <a:off x="7909560" y="2880360"/>
            <a:ext cx="3017520" cy="1828800"/>
          </a:xfrm>
          <a:prstGeom prst="rect">
            <a:avLst/>
          </a:prstGeom>
          <a:noFill/>
        </p:spPr>
        <p:txBody>
          <a:bodyPr wrap="square" anchor="t">
            <a:spAutoFit/>
          </a:bodyPr>
          <a:lstStyle/>
          <a:p>
            <a:pPr algn="l">
              <a:spcBef>
                <a:spcPts val="0"/>
              </a:spcBef>
              <a:spcAft>
                <a:spcPts val="600"/>
              </a:spcAft>
              <a:defRPr sz="1500" b="0" i="0">
                <a:solidFill>
                  <a:srgbClr val="595F69"/>
                </a:solidFill>
                <a:latin typeface="Calibri"/>
              </a:defRPr>
            </a:pPr>
            <a:r>
              <a:t>Where the tax was charged.</a:t>
            </a:r>
            <a:br/>
            <a:r>
              <a:t>By state and tax area.</a:t>
            </a:r>
          </a:p>
        </p:txBody>
      </p:sp>
      <p:sp>
        <p:nvSpPr>
          <p:cNvPr id="11" name="TextBox 10"/>
          <p:cNvSpPr txBox="1"/>
          <p:nvPr/>
        </p:nvSpPr>
        <p:spPr>
          <a:xfrm>
            <a:off x="640080" y="4892040"/>
            <a:ext cx="10881360" cy="1463040"/>
          </a:xfrm>
          <a:prstGeom prst="rect">
            <a:avLst/>
          </a:prstGeom>
          <a:noFill/>
        </p:spPr>
        <p:txBody>
          <a:bodyPr wrap="square" anchor="t">
            <a:spAutoFit/>
          </a:bodyPr>
          <a:lstStyle/>
          <a:p>
            <a:pPr algn="l">
              <a:spcBef>
                <a:spcPts val="0"/>
              </a:spcBef>
              <a:spcAft>
                <a:spcPts val="1000"/>
              </a:spcAft>
              <a:defRPr sz="1600" b="0" i="0">
                <a:solidFill>
                  <a:srgbClr val="1F3864"/>
                </a:solidFill>
                <a:latin typeface="Calibri"/>
              </a:defRPr>
            </a:pPr>
            <a:r>
              <a:t>Slicers on every page: business stream, tax area, jurisdiction, invoice, date.</a:t>
            </a:r>
          </a:p>
          <a:p>
            <a:pPr>
              <a:spcBef>
                <a:spcPts val="0"/>
              </a:spcBef>
              <a:spcAft>
                <a:spcPts val="600"/>
              </a:spcAft>
              <a:defRPr sz="1500" b="0" i="1">
                <a:solidFill>
                  <a:srgbClr val="595F69"/>
                </a:solidFill>
                <a:latin typeface="Calibri"/>
              </a:defRPr>
            </a:pPr>
            <a:r>
              <a:t>The data behind all three pages is the same. The pages differ only in what they show — which is exactly why we kept the filters out of the pipeline.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STATUS</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Where we are</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20240"/>
            <a:ext cx="10881360" cy="868680"/>
          </a:xfrm>
          <a:prstGeom prst="roundRect">
            <a:avLst/>
          </a:prstGeom>
          <a:solidFill>
            <a:srgbClr val="E2EFDA"/>
          </a:solidFill>
          <a:ln>
            <a:solidFill>
              <a:srgbClr val="4F8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21408"/>
            <a:ext cx="457200" cy="457200"/>
          </a:xfrm>
          <a:prstGeom prst="rect">
            <a:avLst/>
          </a:prstGeom>
          <a:noFill/>
        </p:spPr>
        <p:txBody>
          <a:bodyPr wrap="square" anchor="t">
            <a:spAutoFit/>
          </a:bodyPr>
          <a:lstStyle/>
          <a:p>
            <a:pPr algn="l">
              <a:spcBef>
                <a:spcPts val="0"/>
              </a:spcBef>
              <a:spcAft>
                <a:spcPts val="0"/>
              </a:spcAft>
              <a:defRPr sz="1800" b="1" i="0">
                <a:solidFill>
                  <a:srgbClr val="4F8A3E"/>
                </a:solidFill>
                <a:latin typeface="Calibri"/>
              </a:defRPr>
            </a:pPr>
            <a:r>
              <a:t>✔</a:t>
            </a:r>
          </a:p>
        </p:txBody>
      </p:sp>
      <p:sp>
        <p:nvSpPr>
          <p:cNvPr id="7" name="TextBox 6"/>
          <p:cNvSpPr txBox="1"/>
          <p:nvPr/>
        </p:nvSpPr>
        <p:spPr>
          <a:xfrm>
            <a:off x="1371600" y="2139696"/>
            <a:ext cx="2377440" cy="457200"/>
          </a:xfrm>
          <a:prstGeom prst="rect">
            <a:avLst/>
          </a:prstGeom>
          <a:noFill/>
        </p:spPr>
        <p:txBody>
          <a:bodyPr wrap="square" anchor="t">
            <a:spAutoFit/>
          </a:bodyPr>
          <a:lstStyle/>
          <a:p>
            <a:pPr algn="l">
              <a:spcBef>
                <a:spcPts val="0"/>
              </a:spcBef>
              <a:spcAft>
                <a:spcPts val="0"/>
              </a:spcAft>
              <a:defRPr sz="1600" b="1" i="0">
                <a:solidFill>
                  <a:srgbClr val="4F8A3E"/>
                </a:solidFill>
                <a:latin typeface="Calibri"/>
              </a:defRPr>
            </a:pPr>
            <a:r>
              <a:t>Built</a:t>
            </a:r>
          </a:p>
        </p:txBody>
      </p:sp>
      <p:sp>
        <p:nvSpPr>
          <p:cNvPr id="8" name="TextBox 7"/>
          <p:cNvSpPr txBox="1"/>
          <p:nvPr/>
        </p:nvSpPr>
        <p:spPr>
          <a:xfrm>
            <a:off x="3840480" y="2157984"/>
            <a:ext cx="7498079" cy="45720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All three notebooks, the model, and the report are complete.</a:t>
            </a:r>
          </a:p>
        </p:txBody>
      </p:sp>
      <p:sp>
        <p:nvSpPr>
          <p:cNvPr id="9" name="Rounded Rectangle 8"/>
          <p:cNvSpPr/>
          <p:nvPr/>
        </p:nvSpPr>
        <p:spPr>
          <a:xfrm>
            <a:off x="640080" y="2971800"/>
            <a:ext cx="10881360" cy="868680"/>
          </a:xfrm>
          <a:prstGeom prst="roundRect">
            <a:avLst/>
          </a:prstGeom>
          <a:solidFill>
            <a:srgbClr val="E2EFDA"/>
          </a:solidFill>
          <a:ln>
            <a:solidFill>
              <a:srgbClr val="4F8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172968"/>
            <a:ext cx="457200" cy="457200"/>
          </a:xfrm>
          <a:prstGeom prst="rect">
            <a:avLst/>
          </a:prstGeom>
          <a:noFill/>
        </p:spPr>
        <p:txBody>
          <a:bodyPr wrap="square" anchor="t">
            <a:spAutoFit/>
          </a:bodyPr>
          <a:lstStyle/>
          <a:p>
            <a:pPr algn="l">
              <a:spcBef>
                <a:spcPts val="0"/>
              </a:spcBef>
              <a:spcAft>
                <a:spcPts val="0"/>
              </a:spcAft>
              <a:defRPr sz="1800" b="1" i="0">
                <a:solidFill>
                  <a:srgbClr val="4F8A3E"/>
                </a:solidFill>
                <a:latin typeface="Calibri"/>
              </a:defRPr>
            </a:pPr>
            <a:r>
              <a:t>✔</a:t>
            </a:r>
          </a:p>
        </p:txBody>
      </p:sp>
      <p:sp>
        <p:nvSpPr>
          <p:cNvPr id="11" name="TextBox 10"/>
          <p:cNvSpPr txBox="1"/>
          <p:nvPr/>
        </p:nvSpPr>
        <p:spPr>
          <a:xfrm>
            <a:off x="1371600" y="3191256"/>
            <a:ext cx="2377440" cy="457200"/>
          </a:xfrm>
          <a:prstGeom prst="rect">
            <a:avLst/>
          </a:prstGeom>
          <a:noFill/>
        </p:spPr>
        <p:txBody>
          <a:bodyPr wrap="square" anchor="t">
            <a:spAutoFit/>
          </a:bodyPr>
          <a:lstStyle/>
          <a:p>
            <a:pPr algn="l">
              <a:spcBef>
                <a:spcPts val="0"/>
              </a:spcBef>
              <a:spcAft>
                <a:spcPts val="0"/>
              </a:spcAft>
              <a:defRPr sz="1600" b="1" i="0">
                <a:solidFill>
                  <a:srgbClr val="4F8A3E"/>
                </a:solidFill>
                <a:latin typeface="Calibri"/>
              </a:defRPr>
            </a:pPr>
            <a:r>
              <a:t>Reviewed</a:t>
            </a:r>
          </a:p>
        </p:txBody>
      </p:sp>
      <p:sp>
        <p:nvSpPr>
          <p:cNvPr id="12" name="TextBox 11"/>
          <p:cNvSpPr txBox="1"/>
          <p:nvPr/>
        </p:nvSpPr>
        <p:spPr>
          <a:xfrm>
            <a:off x="3840480" y="3209544"/>
            <a:ext cx="7498079" cy="45720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Full design review done. Three issues found and fixed before go-live.</a:t>
            </a:r>
          </a:p>
        </p:txBody>
      </p:sp>
      <p:sp>
        <p:nvSpPr>
          <p:cNvPr id="13" name="Rounded Rectangle 12"/>
          <p:cNvSpPr/>
          <p:nvPr/>
        </p:nvSpPr>
        <p:spPr>
          <a:xfrm>
            <a:off x="640080" y="4023360"/>
            <a:ext cx="10881360" cy="868680"/>
          </a:xfrm>
          <a:prstGeom prst="roundRect">
            <a:avLst/>
          </a:prstGeom>
          <a:solidFill>
            <a:srgbClr val="FDF0DC"/>
          </a:solidFill>
          <a:ln>
            <a:solidFill>
              <a:srgbClr val="C17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224528"/>
            <a:ext cx="457200" cy="457200"/>
          </a:xfrm>
          <a:prstGeom prst="rect">
            <a:avLst/>
          </a:prstGeom>
          <a:noFill/>
        </p:spPr>
        <p:txBody>
          <a:bodyPr wrap="square" anchor="t">
            <a:spAutoFit/>
          </a:bodyPr>
          <a:lstStyle/>
          <a:p>
            <a:pPr algn="l">
              <a:spcBef>
                <a:spcPts val="0"/>
              </a:spcBef>
              <a:spcAft>
                <a:spcPts val="0"/>
              </a:spcAft>
              <a:defRPr sz="1800" b="1" i="0">
                <a:solidFill>
                  <a:srgbClr val="C17A1B"/>
                </a:solidFill>
                <a:latin typeface="Calibri"/>
              </a:defRPr>
            </a:pPr>
            <a:r>
              <a:t>→</a:t>
            </a:r>
          </a:p>
        </p:txBody>
      </p:sp>
      <p:sp>
        <p:nvSpPr>
          <p:cNvPr id="15" name="TextBox 14"/>
          <p:cNvSpPr txBox="1"/>
          <p:nvPr/>
        </p:nvSpPr>
        <p:spPr>
          <a:xfrm>
            <a:off x="1371600" y="4242816"/>
            <a:ext cx="2377440" cy="457200"/>
          </a:xfrm>
          <a:prstGeom prst="rect">
            <a:avLst/>
          </a:prstGeom>
          <a:noFill/>
        </p:spPr>
        <p:txBody>
          <a:bodyPr wrap="square" anchor="t">
            <a:spAutoFit/>
          </a:bodyPr>
          <a:lstStyle/>
          <a:p>
            <a:pPr algn="l">
              <a:spcBef>
                <a:spcPts val="0"/>
              </a:spcBef>
              <a:spcAft>
                <a:spcPts val="0"/>
              </a:spcAft>
              <a:defRPr sz="1600" b="1" i="0">
                <a:solidFill>
                  <a:srgbClr val="C17A1B"/>
                </a:solidFill>
                <a:latin typeface="Calibri"/>
              </a:defRPr>
            </a:pPr>
            <a:r>
              <a:t>Next: first load</a:t>
            </a:r>
          </a:p>
        </p:txBody>
      </p:sp>
      <p:sp>
        <p:nvSpPr>
          <p:cNvPr id="16" name="TextBox 15"/>
          <p:cNvSpPr txBox="1"/>
          <p:nvPr/>
        </p:nvSpPr>
        <p:spPr>
          <a:xfrm>
            <a:off x="3840480" y="4261104"/>
            <a:ext cx="7498079" cy="45720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Needs the source tables switched on in Fabric, then one full run.</a:t>
            </a:r>
          </a:p>
        </p:txBody>
      </p:sp>
      <p:sp>
        <p:nvSpPr>
          <p:cNvPr id="17" name="Rounded Rectangle 16"/>
          <p:cNvSpPr/>
          <p:nvPr/>
        </p:nvSpPr>
        <p:spPr>
          <a:xfrm>
            <a:off x="640080" y="5074920"/>
            <a:ext cx="10881360" cy="868680"/>
          </a:xfrm>
          <a:prstGeom prst="roundRect">
            <a:avLst/>
          </a:prstGeom>
          <a:solidFill>
            <a:srgbClr val="FDF0DC"/>
          </a:solidFill>
          <a:ln>
            <a:solidFill>
              <a:srgbClr val="C17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276088"/>
            <a:ext cx="457200" cy="457200"/>
          </a:xfrm>
          <a:prstGeom prst="rect">
            <a:avLst/>
          </a:prstGeom>
          <a:noFill/>
        </p:spPr>
        <p:txBody>
          <a:bodyPr wrap="square" anchor="t">
            <a:spAutoFit/>
          </a:bodyPr>
          <a:lstStyle/>
          <a:p>
            <a:pPr algn="l">
              <a:spcBef>
                <a:spcPts val="0"/>
              </a:spcBef>
              <a:spcAft>
                <a:spcPts val="0"/>
              </a:spcAft>
              <a:defRPr sz="1800" b="1" i="0">
                <a:solidFill>
                  <a:srgbClr val="C17A1B"/>
                </a:solidFill>
                <a:latin typeface="Calibri"/>
              </a:defRPr>
            </a:pPr>
            <a:r>
              <a:t>→</a:t>
            </a:r>
          </a:p>
        </p:txBody>
      </p:sp>
      <p:sp>
        <p:nvSpPr>
          <p:cNvPr id="19" name="TextBox 18"/>
          <p:cNvSpPr txBox="1"/>
          <p:nvPr/>
        </p:nvSpPr>
        <p:spPr>
          <a:xfrm>
            <a:off x="1371600" y="5294376"/>
            <a:ext cx="2377440" cy="457200"/>
          </a:xfrm>
          <a:prstGeom prst="rect">
            <a:avLst/>
          </a:prstGeom>
          <a:noFill/>
        </p:spPr>
        <p:txBody>
          <a:bodyPr wrap="square" anchor="t">
            <a:spAutoFit/>
          </a:bodyPr>
          <a:lstStyle/>
          <a:p>
            <a:pPr algn="l">
              <a:spcBef>
                <a:spcPts val="0"/>
              </a:spcBef>
              <a:spcAft>
                <a:spcPts val="0"/>
              </a:spcAft>
              <a:defRPr sz="1600" b="1" i="0">
                <a:solidFill>
                  <a:srgbClr val="C17A1B"/>
                </a:solidFill>
                <a:latin typeface="Calibri"/>
              </a:defRPr>
            </a:pPr>
            <a:r>
              <a:t>Then: reconcile</a:t>
            </a:r>
          </a:p>
        </p:txBody>
      </p:sp>
      <p:sp>
        <p:nvSpPr>
          <p:cNvPr id="20" name="TextBox 19"/>
          <p:cNvSpPr txBox="1"/>
          <p:nvPr/>
        </p:nvSpPr>
        <p:spPr>
          <a:xfrm>
            <a:off x="3840480" y="5312664"/>
            <a:ext cx="7498079" cy="457200"/>
          </a:xfrm>
          <a:prstGeom prst="rect">
            <a:avLst/>
          </a:prstGeom>
          <a:noFill/>
        </p:spPr>
        <p:txBody>
          <a:bodyPr wrap="square" anchor="t">
            <a:spAutoFit/>
          </a:bodyPr>
          <a:lstStyle/>
          <a:p>
            <a:pPr algn="l">
              <a:spcBef>
                <a:spcPts val="0"/>
              </a:spcBef>
              <a:spcAft>
                <a:spcPts val="0"/>
              </a:spcAft>
              <a:defRPr sz="1400" b="0" i="0">
                <a:solidFill>
                  <a:srgbClr val="1F3864"/>
                </a:solidFill>
                <a:latin typeface="Calibri"/>
              </a:defRPr>
            </a:pPr>
            <a:r>
              <a:t>Compare against Hubble, invoice by invoice, before anyone relies on it.</a:t>
            </a:r>
          </a:p>
        </p:txBody>
      </p:sp>
      <p:sp>
        <p:nvSpPr>
          <p:cNvPr id="21" name="Rounded Rectangle 20"/>
          <p:cNvSpPr/>
          <p:nvPr/>
        </p:nvSpPr>
        <p:spPr>
          <a:xfrm>
            <a:off x="640080" y="6263640"/>
            <a:ext cx="10881360" cy="457200"/>
          </a:xfrm>
          <a:prstGeom prst="roundRect">
            <a:avLst/>
          </a:prstGeom>
          <a:solidFill>
            <a:srgbClr val="EE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i="1">
                <a:solidFill>
                  <a:srgbClr val="595F69"/>
                </a:solidFill>
                <a:latin typeface="Calibri"/>
              </a:defRPr>
            </a:pPr>
            <a:r>
              <a:t>No figures have been reconciled against Hubble yet — the pipeline has not run. Today is a design walkthrough.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anchor="t">
            <a:spAutoFit/>
          </a:bodyPr>
          <a:lstStyle/>
          <a:p>
            <a:pPr algn="l">
              <a:spcBef>
                <a:spcPts val="0"/>
              </a:spcBef>
              <a:spcAft>
                <a:spcPts val="0"/>
              </a:spcAft>
              <a:defRPr sz="1200" b="1" i="0">
                <a:solidFill>
                  <a:srgbClr val="2E5496"/>
                </a:solidFill>
                <a:latin typeface="Calibri"/>
              </a:defRPr>
            </a:pPr>
            <a:r>
              <a:t>OPEN ITEM</a:t>
            </a:r>
          </a:p>
        </p:txBody>
      </p:sp>
      <p:sp>
        <p:nvSpPr>
          <p:cNvPr id="3" name="TextBox 2"/>
          <p:cNvSpPr txBox="1"/>
          <p:nvPr/>
        </p:nvSpPr>
        <p:spPr>
          <a:xfrm>
            <a:off x="640080" y="685800"/>
            <a:ext cx="10881360" cy="685800"/>
          </a:xfrm>
          <a:prstGeom prst="rect">
            <a:avLst/>
          </a:prstGeom>
          <a:noFill/>
        </p:spPr>
        <p:txBody>
          <a:bodyPr wrap="square" anchor="t">
            <a:spAutoFit/>
          </a:bodyPr>
          <a:lstStyle/>
          <a:p>
            <a:pPr algn="l">
              <a:spcBef>
                <a:spcPts val="0"/>
              </a:spcBef>
              <a:spcAft>
                <a:spcPts val="0"/>
              </a:spcAft>
              <a:defRPr sz="3200" b="1" i="0">
                <a:solidFill>
                  <a:srgbClr val="1F3864"/>
                </a:solidFill>
                <a:latin typeface="Calibri"/>
              </a:defRPr>
            </a:pPr>
            <a:r>
              <a:t>One decision we need</a:t>
            </a:r>
          </a:p>
        </p:txBody>
      </p:sp>
      <p:sp>
        <p:nvSpPr>
          <p:cNvPr id="4" name="Rectangle 3"/>
          <p:cNvSpPr/>
          <p:nvPr/>
        </p:nvSpPr>
        <p:spPr>
          <a:xfrm>
            <a:off x="640080" y="1417320"/>
            <a:ext cx="1371600"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20240"/>
            <a:ext cx="10881360" cy="1005840"/>
          </a:xfrm>
          <a:prstGeom prst="roundRect">
            <a:avLst/>
          </a:prstGeom>
          <a:solidFill>
            <a:srgbClr val="FDF0DC"/>
          </a:solidFill>
          <a:ln w="15875">
            <a:solidFill>
              <a:srgbClr val="C17A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F3864"/>
                </a:solidFill>
                <a:latin typeface="Calibri"/>
              </a:defRPr>
            </a:pPr>
            <a:r>
              <a:t>Should this dataset serve only this report — or future tax reporting too?</a:t>
            </a:r>
          </a:p>
        </p:txBody>
      </p:sp>
      <p:sp>
        <p:nvSpPr>
          <p:cNvPr id="6" name="TextBox 5"/>
          <p:cNvSpPr txBox="1"/>
          <p:nvPr/>
        </p:nvSpPr>
        <p:spPr>
          <a:xfrm>
            <a:off x="640080" y="3200400"/>
            <a:ext cx="5212080" cy="2926080"/>
          </a:xfrm>
          <a:prstGeom prst="rect">
            <a:avLst/>
          </a:prstGeom>
          <a:noFill/>
        </p:spPr>
        <p:txBody>
          <a:bodyPr wrap="square" anchor="t">
            <a:spAutoFit/>
          </a:bodyPr>
          <a:lstStyle/>
          <a:p>
            <a:pPr algn="l">
              <a:spcBef>
                <a:spcPts val="0"/>
              </a:spcBef>
              <a:spcAft>
                <a:spcPts val="800"/>
              </a:spcAft>
              <a:defRPr sz="1800" b="1" i="0">
                <a:solidFill>
                  <a:srgbClr val="1F3864"/>
                </a:solidFill>
                <a:latin typeface="Calibri"/>
              </a:defRPr>
            </a:pPr>
            <a:r>
              <a:t>Today</a:t>
            </a:r>
          </a:p>
          <a:p>
            <a:pPr>
              <a:spcBef>
                <a:spcPts val="0"/>
              </a:spcBef>
              <a:spcAft>
                <a:spcPts val="800"/>
              </a:spcAft>
              <a:defRPr sz="1500" b="0" i="0">
                <a:solidFill>
                  <a:srgbClr val="1F3864"/>
                </a:solidFill>
                <a:latin typeface="Calibri"/>
              </a:defRPr>
            </a:pPr>
            <a:r>
              <a:t>It's built to mirror the Hubble report exactly. That makes it easy to prove the numbers are right — which is the whole point of a reconciliation report.</a:t>
            </a:r>
          </a:p>
          <a:p>
            <a:pPr>
              <a:spcBef>
                <a:spcPts val="0"/>
              </a:spcBef>
              <a:spcAft>
                <a:spcPts val="600"/>
              </a:spcAft>
              <a:defRPr sz="1500" b="0" i="0">
                <a:solidFill>
                  <a:srgbClr val="595F69"/>
                </a:solidFill>
                <a:latin typeface="Calibri"/>
              </a:defRPr>
            </a:pPr>
            <a:r>
              <a:t>But it's shaped for this one report. A different tax question would need a new table.</a:t>
            </a:r>
          </a:p>
        </p:txBody>
      </p:sp>
      <p:sp>
        <p:nvSpPr>
          <p:cNvPr id="7" name="TextBox 6"/>
          <p:cNvSpPr txBox="1"/>
          <p:nvPr/>
        </p:nvSpPr>
        <p:spPr>
          <a:xfrm>
            <a:off x="6309360" y="3200400"/>
            <a:ext cx="5212080" cy="2926080"/>
          </a:xfrm>
          <a:prstGeom prst="rect">
            <a:avLst/>
          </a:prstGeom>
          <a:noFill/>
        </p:spPr>
        <p:txBody>
          <a:bodyPr wrap="square" anchor="t">
            <a:spAutoFit/>
          </a:bodyPr>
          <a:lstStyle/>
          <a:p>
            <a:pPr algn="l">
              <a:spcBef>
                <a:spcPts val="0"/>
              </a:spcBef>
              <a:spcAft>
                <a:spcPts val="800"/>
              </a:spcAft>
              <a:defRPr sz="1800" b="1" i="0">
                <a:solidFill>
                  <a:srgbClr val="1F3864"/>
                </a:solidFill>
                <a:latin typeface="Calibri"/>
              </a:defRPr>
            </a:pPr>
            <a:r>
              <a:t>The alternative</a:t>
            </a:r>
          </a:p>
          <a:p>
            <a:pPr>
              <a:spcBef>
                <a:spcPts val="0"/>
              </a:spcBef>
              <a:spcAft>
                <a:spcPts val="800"/>
              </a:spcAft>
              <a:defRPr sz="1500" b="0" i="0">
                <a:solidFill>
                  <a:srgbClr val="1F3864"/>
                </a:solidFill>
                <a:latin typeface="Calibri"/>
              </a:defRPr>
            </a:pPr>
            <a:r>
              <a:t>Store the finer detail and let Power BI do the summing. More reusable — any future tax report could sit on it.</a:t>
            </a:r>
          </a:p>
          <a:p>
            <a:pPr>
              <a:spcBef>
                <a:spcPts val="0"/>
              </a:spcBef>
              <a:spcAft>
                <a:spcPts val="600"/>
              </a:spcAft>
              <a:defRPr sz="1500" b="0" i="0">
                <a:solidFill>
                  <a:srgbClr val="595F69"/>
                </a:solidFill>
                <a:latin typeface="Calibri"/>
              </a:defRPr>
            </a:pPr>
            <a:r>
              <a:t>Costs a redesign, and makes proving the Hubble match a bit more work.</a:t>
            </a:r>
          </a:p>
        </p:txBody>
      </p:sp>
      <p:sp>
        <p:nvSpPr>
          <p:cNvPr id="8" name="Rounded Rectangle 7"/>
          <p:cNvSpPr/>
          <p:nvPr/>
        </p:nvSpPr>
        <p:spPr>
          <a:xfrm>
            <a:off x="640080" y="6035040"/>
            <a:ext cx="10881360" cy="594360"/>
          </a:xfrm>
          <a:prstGeom prst="roundRect">
            <a:avLst/>
          </a:prstGeom>
          <a:solidFill>
            <a:srgbClr val="DAE5F5"/>
          </a:solidFill>
          <a:ln>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E5496"/>
                </a:solidFill>
                <a:latin typeface="Calibri"/>
              </a:defRPr>
            </a:pPr>
            <a:r>
              <a:t>Worth deciding now — nothing has been loaded yet, so changing it today is free. After go-live it isn't.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10058400" cy="731520"/>
          </a:xfrm>
          <a:prstGeom prst="rect">
            <a:avLst/>
          </a:prstGeom>
          <a:noFill/>
        </p:spPr>
        <p:txBody>
          <a:bodyPr wrap="square" anchor="t">
            <a:spAutoFit/>
          </a:bodyPr>
          <a:lstStyle/>
          <a:p>
            <a:pPr algn="l">
              <a:spcBef>
                <a:spcPts val="0"/>
              </a:spcBef>
              <a:spcAft>
                <a:spcPts val="1400"/>
              </a:spcAft>
              <a:defRPr sz="2000" b="0" i="0">
                <a:solidFill>
                  <a:srgbClr val="9FB4DC"/>
                </a:solidFill>
                <a:latin typeface="Calibri"/>
              </a:defRPr>
            </a:pPr>
            <a:r>
              <a:t>In one sentence</a:t>
            </a:r>
          </a:p>
        </p:txBody>
      </p:sp>
      <p:sp>
        <p:nvSpPr>
          <p:cNvPr id="4" name="TextBox 3"/>
          <p:cNvSpPr txBox="1"/>
          <p:nvPr/>
        </p:nvSpPr>
        <p:spPr>
          <a:xfrm>
            <a:off x="1097280" y="2606040"/>
            <a:ext cx="9966960" cy="2011680"/>
          </a:xfrm>
          <a:prstGeom prst="rect">
            <a:avLst/>
          </a:prstGeom>
          <a:noFill/>
        </p:spPr>
        <p:txBody>
          <a:bodyPr wrap="square" anchor="t">
            <a:spAutoFit/>
          </a:bodyPr>
          <a:lstStyle/>
          <a:p>
            <a:pPr algn="l">
              <a:spcBef>
                <a:spcPts val="0"/>
              </a:spcBef>
              <a:spcAft>
                <a:spcPts val="600"/>
              </a:spcAft>
              <a:defRPr sz="2800" b="1" i="0">
                <a:solidFill>
                  <a:srgbClr val="FFFFFF"/>
                </a:solidFill>
                <a:latin typeface="Calibri"/>
              </a:defRPr>
            </a:pPr>
            <a:r>
              <a:t>One clean dataset of every invoice's tax, kept current within 30 seconds, with the filtering left to the report — so it answers today's question and the next one too.</a:t>
            </a:r>
          </a:p>
        </p:txBody>
      </p:sp>
      <p:sp>
        <p:nvSpPr>
          <p:cNvPr id="5" name="Rectangle 4"/>
          <p:cNvSpPr/>
          <p:nvPr/>
        </p:nvSpPr>
        <p:spPr>
          <a:xfrm>
            <a:off x="1097280" y="4892040"/>
            <a:ext cx="1463040" cy="54864"/>
          </a:xfrm>
          <a:prstGeom prst="rect">
            <a:avLst/>
          </a:prstGeom>
          <a:solidFill>
            <a:srgbClr val="7A9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5166360"/>
            <a:ext cx="10058400" cy="822960"/>
          </a:xfrm>
          <a:prstGeom prst="rect">
            <a:avLst/>
          </a:prstGeom>
          <a:noFill/>
        </p:spPr>
        <p:txBody>
          <a:bodyPr wrap="square" anchor="t">
            <a:spAutoFit/>
          </a:bodyPr>
          <a:lstStyle/>
          <a:p>
            <a:pPr algn="l">
              <a:spcBef>
                <a:spcPts val="0"/>
              </a:spcBef>
              <a:spcAft>
                <a:spcPts val="600"/>
              </a:spcAft>
              <a:defRPr sz="2200" b="0" i="0">
                <a:solidFill>
                  <a:srgbClr val="AFC4E8"/>
                </a:solidFill>
                <a:latin typeface="Calibri"/>
              </a:defRPr>
            </a:pPr>
            <a:r>
              <a:t>Questions?</a:t>
            </a:r>
          </a:p>
          <a:p>
            <a:pPr>
              <a:spcBef>
                <a:spcPts val="0"/>
              </a:spcBef>
              <a:spcAft>
                <a:spcPts val="600"/>
              </a:spcAft>
              <a:defRPr sz="1200" b="0" i="0">
                <a:solidFill>
                  <a:srgbClr val="7A9CD8"/>
                </a:solidFill>
                <a:latin typeface="Calibri"/>
              </a:defRPr>
            </a:pPr>
            <a:r>
              <a:t>Detail: ESO4_gold_layer_design.md  ·  ESO4_Gate_Review.docx  ·  ESO4_Notebook_Code_Walkthrough.docx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